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 Lu" userId="52bb6e58ffdfee21" providerId="LiveId" clId="{74136BC3-072E-5C2D-8473-44134E300012}"/>
    <pc:docChg chg="undo custSel modSld">
      <pc:chgData name="Jeff Lu" userId="52bb6e58ffdfee21" providerId="LiveId" clId="{74136BC3-072E-5C2D-8473-44134E300012}" dt="2026-04-18T02:13:05.320" v="107" actId="1076"/>
      <pc:docMkLst>
        <pc:docMk/>
      </pc:docMkLst>
      <pc:sldChg chg="modSp mod">
        <pc:chgData name="Jeff Lu" userId="52bb6e58ffdfee21" providerId="LiveId" clId="{74136BC3-072E-5C2D-8473-44134E300012}" dt="2026-04-18T02:12:41.943" v="104" actId="1036"/>
        <pc:sldMkLst>
          <pc:docMk/>
          <pc:sldMk cId="0" sldId="257"/>
        </pc:sldMkLst>
        <pc:spChg chg="mod">
          <ac:chgData name="Jeff Lu" userId="52bb6e58ffdfee21" providerId="LiveId" clId="{74136BC3-072E-5C2D-8473-44134E300012}" dt="2026-04-18T02:11:51.717" v="0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Jeff Lu" userId="52bb6e58ffdfee21" providerId="LiveId" clId="{74136BC3-072E-5C2D-8473-44134E300012}" dt="2026-04-18T02:12:35.744" v="95" actId="1036"/>
          <ac:spMkLst>
            <pc:docMk/>
            <pc:sldMk cId="0" sldId="257"/>
            <ac:spMk id="64" creationId="{00000000-0000-0000-0000-000000000000}"/>
          </ac:spMkLst>
        </pc:spChg>
        <pc:spChg chg="mod">
          <ac:chgData name="Jeff Lu" userId="52bb6e58ffdfee21" providerId="LiveId" clId="{74136BC3-072E-5C2D-8473-44134E300012}" dt="2026-04-18T02:12:20.284" v="30" actId="103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Jeff Lu" userId="52bb6e58ffdfee21" providerId="LiveId" clId="{74136BC3-072E-5C2D-8473-44134E300012}" dt="2026-04-18T02:12:35.744" v="95" actId="103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Jeff Lu" userId="52bb6e58ffdfee21" providerId="LiveId" clId="{74136BC3-072E-5C2D-8473-44134E300012}" dt="2026-04-18T02:12:20.284" v="30" actId="1036"/>
          <ac:spMkLst>
            <pc:docMk/>
            <pc:sldMk cId="0" sldId="257"/>
            <ac:spMk id="67" creationId="{00000000-0000-0000-0000-000000000000}"/>
          </ac:spMkLst>
        </pc:spChg>
        <pc:spChg chg="mod">
          <ac:chgData name="Jeff Lu" userId="52bb6e58ffdfee21" providerId="LiveId" clId="{74136BC3-072E-5C2D-8473-44134E300012}" dt="2026-04-18T02:12:20.284" v="30" actId="1036"/>
          <ac:spMkLst>
            <pc:docMk/>
            <pc:sldMk cId="0" sldId="257"/>
            <ac:spMk id="68" creationId="{00000000-0000-0000-0000-000000000000}"/>
          </ac:spMkLst>
        </pc:spChg>
        <pc:spChg chg="mod">
          <ac:chgData name="Jeff Lu" userId="52bb6e58ffdfee21" providerId="LiveId" clId="{74136BC3-072E-5C2D-8473-44134E300012}" dt="2026-04-18T02:12:35.744" v="95" actId="1036"/>
          <ac:spMkLst>
            <pc:docMk/>
            <pc:sldMk cId="0" sldId="257"/>
            <ac:spMk id="69" creationId="{00000000-0000-0000-0000-000000000000}"/>
          </ac:spMkLst>
        </pc:spChg>
        <pc:spChg chg="mod">
          <ac:chgData name="Jeff Lu" userId="52bb6e58ffdfee21" providerId="LiveId" clId="{74136BC3-072E-5C2D-8473-44134E300012}" dt="2026-04-18T02:12:41.943" v="104" actId="1036"/>
          <ac:spMkLst>
            <pc:docMk/>
            <pc:sldMk cId="0" sldId="257"/>
            <ac:spMk id="70" creationId="{00000000-0000-0000-0000-000000000000}"/>
          </ac:spMkLst>
        </pc:spChg>
        <pc:spChg chg="mod">
          <ac:chgData name="Jeff Lu" userId="52bb6e58ffdfee21" providerId="LiveId" clId="{74136BC3-072E-5C2D-8473-44134E300012}" dt="2026-04-18T02:12:41.943" v="104" actId="1036"/>
          <ac:spMkLst>
            <pc:docMk/>
            <pc:sldMk cId="0" sldId="257"/>
            <ac:spMk id="71" creationId="{00000000-0000-0000-0000-000000000000}"/>
          </ac:spMkLst>
        </pc:spChg>
      </pc:sldChg>
      <pc:sldChg chg="modSp mod">
        <pc:chgData name="Jeff Lu" userId="52bb6e58ffdfee21" providerId="LiveId" clId="{74136BC3-072E-5C2D-8473-44134E300012}" dt="2026-04-18T02:13:05.320" v="107" actId="1076"/>
        <pc:sldMkLst>
          <pc:docMk/>
          <pc:sldMk cId="0" sldId="258"/>
        </pc:sldMkLst>
        <pc:spChg chg="mod">
          <ac:chgData name="Jeff Lu" userId="52bb6e58ffdfee21" providerId="LiveId" clId="{74136BC3-072E-5C2D-8473-44134E300012}" dt="2026-04-18T02:13:05.320" v="107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Jeff Lu" userId="52bb6e58ffdfee21" providerId="LiveId" clId="{74136BC3-072E-5C2D-8473-44134E300012}" dt="2026-04-18T02:13:03.869" v="106" actId="1076"/>
          <ac:spMkLst>
            <pc:docMk/>
            <pc:sldMk cId="0" sldId="258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73152" cy="201168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EC0"/>
                </a:solidFill>
              </a:rPr>
              <a:t>QFGB 8948 — Team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Time-Varying Factor Model
&amp; Portfolio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9260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3B3ED"/>
                </a:solidFill>
              </a:rPr>
              <a:t>CLIENT: [Client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429000"/>
            <a:ext cx="6858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0"/>
                </a:solidFill>
              </a:rPr>
              <a:t>Team Members &amp; Roles
Jeff Lu  —  Quantitative Modelling &amp; Factor Analysis
[Member 2]  —  Portfolio Construction &amp; Optimisation
[Member 3]  —  Client Analysis &amp; Presentation
[Member 4]  —  Risk Decomposition &amp;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760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CD34D"/>
                </a:solidFill>
              </a:rPr>
              <a:t>📅  Today: December 31, 2013  (end of data set)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309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</a:rPr>
              <a:t>Fordham University  |  MSQF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Page 1 — Client 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EC0"/>
                </a:solidFill>
              </a:rPr>
              <a:t>Current wealth · Portfolio · Historical risk-return · Goals · Required return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65760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6128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CLIENT PROFILE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3657600" cy="39319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15636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5282"/>
                </a:solidFill>
              </a:rPr>
              <a:t>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56362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57 years 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11096"/>
            <a:ext cx="3657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965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5282"/>
                </a:solidFill>
              </a:rPr>
              <a:t>Current Wealth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9659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$18,000,000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13432"/>
            <a:ext cx="3657600" cy="39319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" y="23682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5282"/>
                </a:solidFill>
              </a:rPr>
              <a:t>Annual Income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36829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$200,000 / yr  (next 5 yrs)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15768"/>
            <a:ext cx="3657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2770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5282"/>
                </a:solidFill>
              </a:rPr>
              <a:t>Annual Spending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77063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2% of wealth / yr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18104"/>
            <a:ext cx="3657600" cy="39319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" y="31729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5282"/>
                </a:solidFill>
              </a:rPr>
              <a:t>Retirement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1729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Age 62  (5 years)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520440"/>
            <a:ext cx="3657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35753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5282"/>
                </a:solidFill>
              </a:rPr>
              <a:t>Wealth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57530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$23,000,000 at retirement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922776"/>
            <a:ext cx="3657600" cy="39319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3977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5282"/>
                </a:solidFill>
              </a:rPr>
              <a:t>Drawdown Limit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39776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≤15% of $18mm  with 99% confidence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325112"/>
            <a:ext cx="3657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" y="43799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5282"/>
                </a:solidFill>
              </a:rPr>
              <a:t>Current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37997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Equal weight: 20% each × 5 assets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1143000"/>
            <a:ext cx="352044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89120" y="116128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REQUIRED RETURN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1481328"/>
            <a:ext cx="3520440" cy="502920"/>
          </a:xfrm>
          <a:prstGeom prst="rect">
            <a:avLst/>
          </a:prstGeom>
          <a:solidFill>
            <a:srgbClr val="EBF8FF"/>
          </a:solidFill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W(t+1) = W(t) × (1 + r − 2%) + $200K
Solve for r : W(5) = $23,000,000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2075688"/>
            <a:ext cx="1691640" cy="71323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9120" y="21214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Required Return (r*)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23500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</a:rPr>
              <a:t>6.02% / yr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2075688"/>
            <a:ext cx="1691640" cy="71323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21214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Portfolio Return (hist.)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23500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</a:rPr>
              <a:t>6.40% / yr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2880360"/>
            <a:ext cx="3474720" cy="71323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0" y="292608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Surplus / Shortfall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315468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76749"/>
                </a:solidFill>
              </a:rPr>
              <a:t>+0.38% / yr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3703320"/>
            <a:ext cx="352044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89120" y="372160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PROJECTED WEALTH PATH AT r*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4297680" y="4041648"/>
          <a:ext cx="3520440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Start W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Return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Income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Spending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End W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Yr 1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$18.00mm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6.0%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$200K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$360K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$18.92mm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Yr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$18.92mm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$200K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$378K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$19.88mm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Yr 3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$19.88mm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6.0%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$200K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$398K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$20.88mm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Yr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$20.88mm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$200K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$418K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$21.92mm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Yr 5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$21.92mm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6.0%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$200K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$438K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$23.00mm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7" name="Rectangle 46"/>
          <p:cNvSpPr/>
          <p:nvPr/>
        </p:nvSpPr>
        <p:spPr>
          <a:xfrm>
            <a:off x="8001000" y="1143000"/>
            <a:ext cx="388620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92440" y="1161288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CURRENT PORTFOLIO (EQ. WT.)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01000" y="1508760"/>
            <a:ext cx="1874519" cy="77724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92440" y="1554480"/>
            <a:ext cx="1737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Ann. Return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1783080"/>
            <a:ext cx="1737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</a:rPr>
              <a:t>6.40%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21240" y="1508760"/>
            <a:ext cx="1874519" cy="77724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012680" y="1554480"/>
            <a:ext cx="1737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Ann. Volatility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80" y="1783080"/>
            <a:ext cx="1737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</a:rPr>
              <a:t>8.40%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01000" y="2377439"/>
            <a:ext cx="1874519" cy="77724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92440" y="2423159"/>
            <a:ext cx="1737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Sharpe Ratio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2651759"/>
            <a:ext cx="1737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</a:rPr>
              <a:t>0.458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921240" y="2377439"/>
            <a:ext cx="1874519" cy="77724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012680" y="2423159"/>
            <a:ext cx="1737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Max Drawdown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12680" y="2651759"/>
            <a:ext cx="1737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</a:rPr>
              <a:t>-23.7%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01000" y="3246120"/>
            <a:ext cx="1874519" cy="77724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092440" y="3291840"/>
            <a:ext cx="1737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Worst DD (wealth)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92440" y="3520440"/>
            <a:ext cx="1737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</a:rPr>
              <a:t>-36.8% of $18mm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01000" y="5149348"/>
            <a:ext cx="388620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092440" y="5167636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</a:rPr>
              <a:t>GOAL ASSESSMENT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01000" y="5487676"/>
            <a:ext cx="3886200" cy="438912"/>
          </a:xfrm>
          <a:prstGeom prst="rect">
            <a:avLst/>
          </a:prstGeom>
          <a:solidFill>
            <a:srgbClr val="C6F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92440" y="55333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Return Goal ($23mm)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98480" y="5533396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76749"/>
                </a:solidFill>
              </a:rPr>
              <a:t>YES 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01000" y="5963164"/>
            <a:ext cx="3886200" cy="438912"/>
          </a:xfrm>
          <a:prstGeom prst="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092440" y="598762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1A2E"/>
                </a:solidFill>
              </a:rPr>
              <a:t>Drawdown ≤15% (hist.)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98480" y="5987626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 dirty="0">
                <a:solidFill>
                  <a:srgbClr val="C53030"/>
                </a:solidFill>
              </a:rPr>
              <a:t>NO ✗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</a:rPr>
              <a:t>QFGB 8948 – Team Portfolio Project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AEC0"/>
                </a:solidFill>
              </a:rPr>
              <a:t>Page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Page 2 — Investment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EC0"/>
                </a:solidFill>
              </a:rPr>
              <a:t>Risk-return profile · Distribution characteristics · Factor identification · What are these assets?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713232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61288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ASSET RISK-RETURN STATISTICS (annualised, Jan 2004 – Dec 2013)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481328"/>
          <a:ext cx="7086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Asset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Ann. Return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Ann. Vol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Sharpe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Skewness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Exc. Kurt.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Max DD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Asset 1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4.55%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2.65%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0.755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0.458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3.17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-2.8%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Asset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8.40%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18.63%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-0.530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-50.8%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Asset3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9.32%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24.96%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0.271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-0.336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1.39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-62.3%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Asset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4.27%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4.86%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Asset 5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5.44%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7.13%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0.405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-0.907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5.10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-13.5%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Eq-Wt Portfolio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6.40%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8.40%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0.458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-23.7%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589520" y="1143000"/>
            <a:ext cx="429768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0" y="116128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FACTOR PROFILES &amp; ASSET IDENTIFICATION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589520" y="1481328"/>
          <a:ext cx="429768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Asset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Top Factor (corr.)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Likely Asset Class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Asset 1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US AGG  (+0.89)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Investment-Grade Bonds (US AGG)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Asset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US Growth  (+0.94)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US Large-Cap Equity (S&amp;P 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Asset3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Commodities  (+0.71)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Alternative / Illiquid (high idio. noise)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Asset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HF FOF Div  (+0.58)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Diversified Multi-Asset Fund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Asset 5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TIPs  (+0.97)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Duration / Leveraged Bond Fund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589520" y="3063240"/>
            <a:ext cx="429768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0" y="308152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 OBSERVATIONS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3401568"/>
            <a:ext cx="73152" cy="38404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3401568"/>
            <a:ext cx="40965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Asset 2 has the highest Sharpe (equity-like, S&amp;P 500 corr. &gt; 0.95).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3913632"/>
            <a:ext cx="73152" cy="384048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0" y="3913632"/>
            <a:ext cx="40965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Asset 1 is dominated by US AGG — pure investment-grade bond exposure.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4425696"/>
            <a:ext cx="73152" cy="38404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0" y="4425696"/>
            <a:ext cx="40965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Asset 3 has very high idiosyncratic noise (σ²=0.0025), consistent with an alternative or illiquid strategy.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4937760"/>
            <a:ext cx="73152" cy="384048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0" y="4937760"/>
            <a:ext cx="40965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Asset 5 shows US AGG loading &gt; 1.0 — leverage / duration extension.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5449824"/>
            <a:ext cx="73152" cy="38404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0" y="5449824"/>
            <a:ext cx="40965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All 5 assets show significant drawdowns in 2008–09 (GFC), confirming crisis correlation spikes.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520440"/>
            <a:ext cx="502920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353872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ASSET CORRELATION MATRIX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274320" y="3858768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Asset 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Asset 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Asset3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Asset 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Asset 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Asset 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-0.140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-0.070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0.032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53030"/>
                          </a:solidFill>
                        </a:rPr>
                        <a:t>0.666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Asset 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0.486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Asset3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0.486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0.382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0.225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Asset 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Asset 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0.125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0.225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0.152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5440680" y="3520440"/>
            <a:ext cx="196596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32120" y="3538728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DISTRIBUTION NOTES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40680" y="3858768"/>
            <a:ext cx="1965960" cy="228600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0" y="3904487"/>
            <a:ext cx="1828800" cy="2194560"/>
          </a:xfrm>
          <a:prstGeom prst="rect">
            <a:avLst/>
          </a:prstGeom>
          <a:solidFill>
            <a:srgbClr val="EBF8FF"/>
          </a:solidFill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Asset 3: σ² = 0.0025
Highest idiosyncratic risk
Asset 5: Skew = -0.91
Fat left tail (crash exposure)
Assets 1 &amp; 2 show the
cleanest factor 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</a:rPr>
              <a:t>QFGB 8948 – Team Portfolio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AEC0"/>
                </a:solidFill>
              </a:rPr>
              <a:t>Page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Page 3 — Risk Decomposition &amp; Historical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EC0"/>
                </a:solidFill>
              </a:rPr>
              <a:t>TRC · Factor TRC · Hist. simulation 2004-2013 (monthly rebalancing) · Goal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39496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612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RISK CONTRIBUTION (TRC) — EQUAL-WEIGHT PORTFOLIO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481328"/>
          <a:ext cx="5394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Asset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Ann. Vol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TRC (ann.)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TRC 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Asset 1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2.65%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0.040%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0.5%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Asset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18.63%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2.873%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34.2%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Asset3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24.96%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4.433%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52.8%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Asset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4.86%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0.458%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Asset 5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7.13%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0.597%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8.40%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8.400%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3429000"/>
            <a:ext cx="539496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34472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FACTOR TRC — PORTFOLIO RISK BY FACTOR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3767328"/>
          <a:ext cx="53949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Factor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Bucket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Port. Beta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Factor TRC (ann.)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TRC 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S&amp;P500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Equity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0.2029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2.311%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27.5%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US AGG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Rates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0.2574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0.173%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High Yield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Credit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-0.0194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-0.136%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-1.6%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MSCI EM 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0.0322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0.625%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Gold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Macro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0.0771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0.580%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US Dollar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-0.1287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0.373%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Long Short HF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Alternatives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0.3565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2.555%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30.4%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897880" y="1143000"/>
            <a:ext cx="598932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89320" y="1161288"/>
            <a:ext cx="5897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HISTORICAL SIMULATION — WEALTH PATH (Jan 2004 – Dec 2013)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481328"/>
            <a:ext cx="1920240" cy="749808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9320" y="152704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Starting Wealth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75564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</a:rPr>
              <a:t>$18,000,000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481328"/>
            <a:ext cx="1920240" cy="749808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152704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Ending Wealth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75564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</a:rPr>
              <a:t>$29.25mm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1481328"/>
            <a:ext cx="1920240" cy="749808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21240" y="152704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Total Return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75564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</a:rPr>
              <a:t>62.5%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2304288"/>
            <a:ext cx="1920240" cy="749808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89320" y="235000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Ann. Portfolio Ret.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57860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</a:rPr>
              <a:t>6.40%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2304288"/>
            <a:ext cx="1920240" cy="749808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0" y="235000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Ann. Volatility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257860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</a:rPr>
              <a:t>8.40%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304288"/>
            <a:ext cx="1920240" cy="749808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21240" y="235000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Max DD (wealth)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257860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</a:rPr>
              <a:t>-36.8% of $18mm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80" y="3246120"/>
            <a:ext cx="598932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89320" y="3264408"/>
            <a:ext cx="5897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SELECTED MILESTONES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897880" y="3584448"/>
          <a:ext cx="59893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Wealth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% of $18mm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DD vs Peak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Dec-2003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$18.000mm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▲ PEAK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Dec-2004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$19.497mm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108.3%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▲ PEAK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Dec-2005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$21.035mm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116.9%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▲ PEAK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Dec-2006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$24.419mm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135.7%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Dec-2007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$25.917mm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144.0%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-3.9%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Dec-2008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$20.981mm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116.6%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-33.2%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▼ DRAWDOWN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Dec-2010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$29.257mm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162.5%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▲ PEAK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Dec-2012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$29.702mm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165.0%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Nov-2013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$28.878mm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160.4%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-8.4%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▼ DRAWDOWN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274320" y="6245352"/>
            <a:ext cx="11640312" cy="475488"/>
          </a:xfrm>
          <a:prstGeom prst="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" y="6300216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53030"/>
                </a:solidFill>
              </a:rPr>
              <a:t>GOAL ASSESSMENT:  Return goal (6.02% req. vs 6.40% hist.) ✓    |    Drawdown ≤15% of $18mm  ✗    |    Recommendation: Current allocation reviewed — see optimisation 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</a:rPr>
              <a:t>QFGB 8948 – Team Portfolio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AEC0"/>
                </a:solidFill>
              </a:rPr>
              <a:t>Page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1100</Words>
  <Application>Microsoft Macintosh PowerPoint</Application>
  <PresentationFormat>Custom</PresentationFormat>
  <Paragraphs>343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Jeff Lu</cp:lastModifiedBy>
  <cp:revision>1</cp:revision>
  <dcterms:created xsi:type="dcterms:W3CDTF">2013-01-27T09:14:16Z</dcterms:created>
  <dcterms:modified xsi:type="dcterms:W3CDTF">2026-04-18T02:13:13Z</dcterms:modified>
  <cp:category/>
</cp:coreProperties>
</file>