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09"/>
  </p:normalViewPr>
  <p:slideViewPr>
    <p:cSldViewPr snapToGrid="0" snapToObjects="1">
      <p:cViewPr>
        <p:scale>
          <a:sx n="148" d="100"/>
          <a:sy n="148" d="100"/>
        </p:scale>
        <p:origin x="24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Lu" userId="52bb6e58ffdfee21" providerId="LiveId" clId="{74136BC3-072E-5C2D-8473-44134E300012}"/>
    <pc:docChg chg="undo custSel modSld">
      <pc:chgData name="Jeff Lu" userId="52bb6e58ffdfee21" providerId="LiveId" clId="{74136BC3-072E-5C2D-8473-44134E300012}" dt="2026-04-18T02:13:05.320" v="107" actId="1076"/>
      <pc:docMkLst>
        <pc:docMk/>
      </pc:docMkLst>
      <pc:sldChg chg="modSp mod">
        <pc:chgData name="Jeff Lu" userId="52bb6e58ffdfee21" providerId="LiveId" clId="{74136BC3-072E-5C2D-8473-44134E300012}" dt="2026-04-18T02:12:41.943" v="104" actId="1036"/>
        <pc:sldMkLst>
          <pc:docMk/>
          <pc:sldMk cId="0" sldId="257"/>
        </pc:sldMkLst>
        <pc:spChg chg="mod">
          <ac:chgData name="Jeff Lu" userId="52bb6e58ffdfee21" providerId="LiveId" clId="{74136BC3-072E-5C2D-8473-44134E300012}" dt="2026-04-18T02:11:51.717" v="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Jeff Lu" userId="52bb6e58ffdfee21" providerId="LiveId" clId="{74136BC3-072E-5C2D-8473-44134E300012}" dt="2026-04-18T02:12:35.744" v="95" actId="1036"/>
          <ac:spMkLst>
            <pc:docMk/>
            <pc:sldMk cId="0" sldId="257"/>
            <ac:spMk id="64" creationId="{00000000-0000-0000-0000-000000000000}"/>
          </ac:spMkLst>
        </pc:spChg>
        <pc:spChg chg="mod">
          <ac:chgData name="Jeff Lu" userId="52bb6e58ffdfee21" providerId="LiveId" clId="{74136BC3-072E-5C2D-8473-44134E300012}" dt="2026-04-18T02:12:20.284" v="30" actId="103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Jeff Lu" userId="52bb6e58ffdfee21" providerId="LiveId" clId="{74136BC3-072E-5C2D-8473-44134E300012}" dt="2026-04-18T02:12:35.744" v="95" actId="103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Jeff Lu" userId="52bb6e58ffdfee21" providerId="LiveId" clId="{74136BC3-072E-5C2D-8473-44134E300012}" dt="2026-04-18T02:12:20.284" v="30" actId="1036"/>
          <ac:spMkLst>
            <pc:docMk/>
            <pc:sldMk cId="0" sldId="257"/>
            <ac:spMk id="67" creationId="{00000000-0000-0000-0000-000000000000}"/>
          </ac:spMkLst>
        </pc:spChg>
        <pc:spChg chg="mod">
          <ac:chgData name="Jeff Lu" userId="52bb6e58ffdfee21" providerId="LiveId" clId="{74136BC3-072E-5C2D-8473-44134E300012}" dt="2026-04-18T02:12:20.284" v="30" actId="1036"/>
          <ac:spMkLst>
            <pc:docMk/>
            <pc:sldMk cId="0" sldId="257"/>
            <ac:spMk id="68" creationId="{00000000-0000-0000-0000-000000000000}"/>
          </ac:spMkLst>
        </pc:spChg>
        <pc:spChg chg="mod">
          <ac:chgData name="Jeff Lu" userId="52bb6e58ffdfee21" providerId="LiveId" clId="{74136BC3-072E-5C2D-8473-44134E300012}" dt="2026-04-18T02:12:35.744" v="95" actId="1036"/>
          <ac:spMkLst>
            <pc:docMk/>
            <pc:sldMk cId="0" sldId="257"/>
            <ac:spMk id="69" creationId="{00000000-0000-0000-0000-000000000000}"/>
          </ac:spMkLst>
        </pc:spChg>
        <pc:spChg chg="mod">
          <ac:chgData name="Jeff Lu" userId="52bb6e58ffdfee21" providerId="LiveId" clId="{74136BC3-072E-5C2D-8473-44134E300012}" dt="2026-04-18T02:12:41.943" v="104" actId="1036"/>
          <ac:spMkLst>
            <pc:docMk/>
            <pc:sldMk cId="0" sldId="257"/>
            <ac:spMk id="70" creationId="{00000000-0000-0000-0000-000000000000}"/>
          </ac:spMkLst>
        </pc:spChg>
        <pc:spChg chg="mod">
          <ac:chgData name="Jeff Lu" userId="52bb6e58ffdfee21" providerId="LiveId" clId="{74136BC3-072E-5C2D-8473-44134E300012}" dt="2026-04-18T02:12:41.943" v="104" actId="1036"/>
          <ac:spMkLst>
            <pc:docMk/>
            <pc:sldMk cId="0" sldId="257"/>
            <ac:spMk id="71" creationId="{00000000-0000-0000-0000-000000000000}"/>
          </ac:spMkLst>
        </pc:spChg>
      </pc:sldChg>
      <pc:sldChg chg="modSp mod">
        <pc:chgData name="Jeff Lu" userId="52bb6e58ffdfee21" providerId="LiveId" clId="{74136BC3-072E-5C2D-8473-44134E300012}" dt="2026-04-18T02:13:05.320" v="107" actId="1076"/>
        <pc:sldMkLst>
          <pc:docMk/>
          <pc:sldMk cId="0" sldId="258"/>
        </pc:sldMkLst>
        <pc:spChg chg="mod">
          <ac:chgData name="Jeff Lu" userId="52bb6e58ffdfee21" providerId="LiveId" clId="{74136BC3-072E-5C2D-8473-44134E300012}" dt="2026-04-18T02:13:05.320" v="10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Jeff Lu" userId="52bb6e58ffdfee21" providerId="LiveId" clId="{74136BC3-072E-5C2D-8473-44134E300012}" dt="2026-04-18T02:13:03.869" v="106" actId="1076"/>
          <ac:spMkLst>
            <pc:docMk/>
            <pc:sldMk cId="0" sldId="258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55FF9-A38D-584F-BAE2-F3C373E97070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32CB1-04DE-2742-A71B-2DED774B4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6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32CB1-04DE-2742-A71B-2DED774B47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01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16459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02920" y="164592"/>
            <a:ext cx="1115568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QFGB 8948 — Team Portfolio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603504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Client-ready portfolio recommendation using factor analysis, MVO, Risk Parity, and historical simulation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141732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5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Time-Varying Factor Model</a:t>
            </a:r>
          </a:p>
          <a:p>
            <a:pPr algn="l"/>
            <a:r>
              <a:rPr lang="en-US" sz="25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&amp; Portfolio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0" y="1444752"/>
            <a:ext cx="4297680" cy="329184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CLIENT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0" y="1828800"/>
            <a:ext cx="4297680" cy="530352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22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Georgina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2788920"/>
            <a:ext cx="52578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MEMBERS &amp; ROLES</a:t>
            </a:r>
          </a:p>
        </p:txBody>
      </p:sp>
      <p:sp>
        <p:nvSpPr>
          <p:cNvPr id="10" name="Rect 10"/>
          <p:cNvSpPr/>
          <p:nvPr/>
        </p:nvSpPr>
        <p:spPr>
          <a:xfrm>
            <a:off x="685800" y="3136392"/>
            <a:ext cx="1417320" cy="31089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85800" y="3136392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Member</a:t>
            </a:r>
          </a:p>
        </p:txBody>
      </p:sp>
      <p:sp>
        <p:nvSpPr>
          <p:cNvPr id="12" name="Rect 12"/>
          <p:cNvSpPr/>
          <p:nvPr/>
        </p:nvSpPr>
        <p:spPr>
          <a:xfrm>
            <a:off x="2103120" y="3136392"/>
            <a:ext cx="3840480" cy="31089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103120" y="313639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Role</a:t>
            </a:r>
          </a:p>
        </p:txBody>
      </p:sp>
      <p:sp>
        <p:nvSpPr>
          <p:cNvPr id="14" name="Rect 14"/>
          <p:cNvSpPr/>
          <p:nvPr/>
        </p:nvSpPr>
        <p:spPr>
          <a:xfrm>
            <a:off x="685800" y="3447288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685800" y="3447288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Jeff and Aryan</a:t>
            </a:r>
          </a:p>
        </p:txBody>
      </p:sp>
      <p:sp>
        <p:nvSpPr>
          <p:cNvPr id="16" name="Rect 16"/>
          <p:cNvSpPr/>
          <p:nvPr/>
        </p:nvSpPr>
        <p:spPr>
          <a:xfrm>
            <a:off x="2103120" y="3447288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2103120" y="344728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Quantitative Modelling &amp; Factor Analysis</a:t>
            </a:r>
          </a:p>
        </p:txBody>
      </p:sp>
      <p:sp>
        <p:nvSpPr>
          <p:cNvPr id="18" name="Rect 18"/>
          <p:cNvSpPr/>
          <p:nvPr/>
        </p:nvSpPr>
        <p:spPr>
          <a:xfrm>
            <a:off x="685800" y="3758184"/>
            <a:ext cx="1417320" cy="31089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85800" y="3758184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Cameron, Hao and James</a:t>
            </a:r>
          </a:p>
        </p:txBody>
      </p:sp>
      <p:sp>
        <p:nvSpPr>
          <p:cNvPr id="20" name="Rect 20"/>
          <p:cNvSpPr/>
          <p:nvPr/>
        </p:nvSpPr>
        <p:spPr>
          <a:xfrm>
            <a:off x="2103120" y="3758184"/>
            <a:ext cx="3840480" cy="31089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103120" y="375818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Portfolio Construction &amp; Optimisation</a:t>
            </a:r>
          </a:p>
        </p:txBody>
      </p:sp>
      <p:sp>
        <p:nvSpPr>
          <p:cNvPr id="22" name="Rect 22"/>
          <p:cNvSpPr/>
          <p:nvPr/>
        </p:nvSpPr>
        <p:spPr>
          <a:xfrm>
            <a:off x="685800" y="4069080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85800" y="4069080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Aryan</a:t>
            </a:r>
          </a:p>
        </p:txBody>
      </p:sp>
      <p:sp>
        <p:nvSpPr>
          <p:cNvPr id="24" name="Rect 24"/>
          <p:cNvSpPr/>
          <p:nvPr/>
        </p:nvSpPr>
        <p:spPr>
          <a:xfrm>
            <a:off x="2103120" y="4069080"/>
            <a:ext cx="3840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2103120" y="406908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Client Analysis &amp; Presentation</a:t>
            </a:r>
          </a:p>
        </p:txBody>
      </p:sp>
      <p:sp>
        <p:nvSpPr>
          <p:cNvPr id="26" name="Rect 26"/>
          <p:cNvSpPr/>
          <p:nvPr/>
        </p:nvSpPr>
        <p:spPr>
          <a:xfrm>
            <a:off x="685800" y="4379976"/>
            <a:ext cx="1417320" cy="31089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685800" y="4379976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Ezra</a:t>
            </a:r>
          </a:p>
        </p:txBody>
      </p:sp>
      <p:sp>
        <p:nvSpPr>
          <p:cNvPr id="28" name="Rect 28"/>
          <p:cNvSpPr/>
          <p:nvPr/>
        </p:nvSpPr>
        <p:spPr>
          <a:xfrm>
            <a:off x="2103120" y="4379976"/>
            <a:ext cx="3840480" cy="31089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103120" y="43799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Risk Decomposition &amp; Simulation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58000" y="2788920"/>
            <a:ext cx="42976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PROJECT 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8000" y="3136392"/>
            <a:ext cx="4297680" cy="841248"/>
          </a:xfrm>
          <a:prstGeom prst="rect">
            <a:avLst/>
          </a:prstGeom>
          <a:solidFill>
            <a:srgbClr val="EBF8FF"/>
          </a:solidFill>
          <a:ln>
            <a:solidFill>
              <a:srgbClr val="A0AEC0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Today: December 31, 2013</a:t>
            </a:r>
          </a:p>
          <a:p>
            <a:pPr algn="l"/>
            <a:r>
              <a:rPr lang="en-US" sz="12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End of the provided data set; no later returns are used.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800" y="4983480"/>
            <a:ext cx="10469880" cy="566928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2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Assignment structure followed: client situation, investment analysis, risk decomposition and HS, MVO proposal, RP proposal, HS comparison, and final investment proposal.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292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Fordham University | MSQF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1 — Client Situation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Current wealth · current portfolio · historical risk-return · client goals · required return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" y="1170432"/>
            <a:ext cx="379476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CLIENT MANDATE</a:t>
            </a:r>
          </a:p>
        </p:txBody>
      </p:sp>
      <p:sp>
        <p:nvSpPr>
          <p:cNvPr id="9" name="Rect 9"/>
          <p:cNvSpPr/>
          <p:nvPr/>
        </p:nvSpPr>
        <p:spPr>
          <a:xfrm>
            <a:off x="320040" y="1517904"/>
            <a:ext cx="1417320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20040" y="1517904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Input</a:t>
            </a:r>
          </a:p>
        </p:txBody>
      </p:sp>
      <p:sp>
        <p:nvSpPr>
          <p:cNvPr id="11" name="Rect 11"/>
          <p:cNvSpPr/>
          <p:nvPr/>
        </p:nvSpPr>
        <p:spPr>
          <a:xfrm>
            <a:off x="1737360" y="1517904"/>
            <a:ext cx="2377440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737360" y="1517904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Value</a:t>
            </a:r>
          </a:p>
        </p:txBody>
      </p:sp>
      <p:sp>
        <p:nvSpPr>
          <p:cNvPr id="13" name="Rect 13"/>
          <p:cNvSpPr/>
          <p:nvPr/>
        </p:nvSpPr>
        <p:spPr>
          <a:xfrm>
            <a:off x="320040" y="1819656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20040" y="1819656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Age</a:t>
            </a:r>
          </a:p>
        </p:txBody>
      </p:sp>
      <p:sp>
        <p:nvSpPr>
          <p:cNvPr id="15" name="Rect 15"/>
          <p:cNvSpPr/>
          <p:nvPr/>
        </p:nvSpPr>
        <p:spPr>
          <a:xfrm>
            <a:off x="1737360" y="1819656"/>
            <a:ext cx="23774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37360" y="181965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57 years old</a:t>
            </a:r>
          </a:p>
        </p:txBody>
      </p:sp>
      <p:sp>
        <p:nvSpPr>
          <p:cNvPr id="17" name="Rect 17"/>
          <p:cNvSpPr/>
          <p:nvPr/>
        </p:nvSpPr>
        <p:spPr>
          <a:xfrm>
            <a:off x="320040" y="2121408"/>
            <a:ext cx="141732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320040" y="2121408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Current Wealth</a:t>
            </a:r>
          </a:p>
        </p:txBody>
      </p:sp>
      <p:sp>
        <p:nvSpPr>
          <p:cNvPr id="19" name="Rect 19"/>
          <p:cNvSpPr/>
          <p:nvPr/>
        </p:nvSpPr>
        <p:spPr>
          <a:xfrm>
            <a:off x="1737360" y="2121408"/>
            <a:ext cx="237744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737360" y="2121408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$18.00mm</a:t>
            </a:r>
          </a:p>
        </p:txBody>
      </p:sp>
      <p:sp>
        <p:nvSpPr>
          <p:cNvPr id="21" name="Rect 21"/>
          <p:cNvSpPr/>
          <p:nvPr/>
        </p:nvSpPr>
        <p:spPr>
          <a:xfrm>
            <a:off x="320040" y="2423160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20040" y="2423160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Annual Income</a:t>
            </a:r>
          </a:p>
        </p:txBody>
      </p:sp>
      <p:sp>
        <p:nvSpPr>
          <p:cNvPr id="23" name="Rect 23"/>
          <p:cNvSpPr/>
          <p:nvPr/>
        </p:nvSpPr>
        <p:spPr>
          <a:xfrm>
            <a:off x="1737360" y="2423160"/>
            <a:ext cx="23774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737360" y="2423160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$200K / yr for next 5 years</a:t>
            </a:r>
          </a:p>
        </p:txBody>
      </p:sp>
      <p:sp>
        <p:nvSpPr>
          <p:cNvPr id="25" name="Rect 25"/>
          <p:cNvSpPr/>
          <p:nvPr/>
        </p:nvSpPr>
        <p:spPr>
          <a:xfrm>
            <a:off x="320040" y="2724912"/>
            <a:ext cx="141732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320040" y="2724912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Annual Spending</a:t>
            </a:r>
          </a:p>
        </p:txBody>
      </p:sp>
      <p:sp>
        <p:nvSpPr>
          <p:cNvPr id="27" name="Rect 27"/>
          <p:cNvSpPr/>
          <p:nvPr/>
        </p:nvSpPr>
        <p:spPr>
          <a:xfrm>
            <a:off x="1737360" y="2724912"/>
            <a:ext cx="237744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737360" y="272491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2% of wealth / yr</a:t>
            </a:r>
          </a:p>
        </p:txBody>
      </p:sp>
      <p:sp>
        <p:nvSpPr>
          <p:cNvPr id="29" name="Rect 29"/>
          <p:cNvSpPr/>
          <p:nvPr/>
        </p:nvSpPr>
        <p:spPr>
          <a:xfrm>
            <a:off x="320040" y="3026664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320040" y="3026664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Retirement</a:t>
            </a:r>
          </a:p>
        </p:txBody>
      </p:sp>
      <p:sp>
        <p:nvSpPr>
          <p:cNvPr id="31" name="Rect 31"/>
          <p:cNvSpPr/>
          <p:nvPr/>
        </p:nvSpPr>
        <p:spPr>
          <a:xfrm>
            <a:off x="1737360" y="3026664"/>
            <a:ext cx="23774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737360" y="3026664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Age 62; five-year horizon</a:t>
            </a:r>
          </a:p>
        </p:txBody>
      </p:sp>
      <p:sp>
        <p:nvSpPr>
          <p:cNvPr id="33" name="Rect 33"/>
          <p:cNvSpPr/>
          <p:nvPr/>
        </p:nvSpPr>
        <p:spPr>
          <a:xfrm>
            <a:off x="320040" y="3328415"/>
            <a:ext cx="141732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320040" y="3328415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Wealth Target</a:t>
            </a:r>
          </a:p>
        </p:txBody>
      </p:sp>
      <p:sp>
        <p:nvSpPr>
          <p:cNvPr id="35" name="Rect 35"/>
          <p:cNvSpPr/>
          <p:nvPr/>
        </p:nvSpPr>
        <p:spPr>
          <a:xfrm>
            <a:off x="1737360" y="3328415"/>
            <a:ext cx="237744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737360" y="3328415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$23.00mm at retirement</a:t>
            </a:r>
          </a:p>
        </p:txBody>
      </p:sp>
      <p:sp>
        <p:nvSpPr>
          <p:cNvPr id="37" name="Rect 37"/>
          <p:cNvSpPr/>
          <p:nvPr/>
        </p:nvSpPr>
        <p:spPr>
          <a:xfrm>
            <a:off x="320040" y="3630168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320040" y="3630168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Drawdown Limit</a:t>
            </a:r>
          </a:p>
        </p:txBody>
      </p:sp>
      <p:sp>
        <p:nvSpPr>
          <p:cNvPr id="39" name="Rect 39"/>
          <p:cNvSpPr/>
          <p:nvPr/>
        </p:nvSpPr>
        <p:spPr>
          <a:xfrm>
            <a:off x="1737360" y="3630168"/>
            <a:ext cx="23774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737360" y="3630168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No worse than 15% of $18mm</a:t>
            </a:r>
          </a:p>
        </p:txBody>
      </p:sp>
      <p:sp>
        <p:nvSpPr>
          <p:cNvPr id="41" name="Rect 41"/>
          <p:cNvSpPr/>
          <p:nvPr/>
        </p:nvSpPr>
        <p:spPr>
          <a:xfrm>
            <a:off x="320040" y="3931920"/>
            <a:ext cx="141732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320040" y="3931920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Current Portfolio</a:t>
            </a:r>
          </a:p>
        </p:txBody>
      </p:sp>
      <p:sp>
        <p:nvSpPr>
          <p:cNvPr id="43" name="Rect 43"/>
          <p:cNvSpPr/>
          <p:nvPr/>
        </p:nvSpPr>
        <p:spPr>
          <a:xfrm>
            <a:off x="1737360" y="3931920"/>
            <a:ext cx="237744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737360" y="3931920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Equal weight: 20% each x 5 assets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34840" y="1170432"/>
            <a:ext cx="38862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REQUIRED RETURN ANALYSIS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434840" y="1517904"/>
            <a:ext cx="3886200" cy="384048"/>
          </a:xfrm>
          <a:prstGeom prst="rect">
            <a:avLst/>
          </a:prstGeom>
          <a:solidFill>
            <a:srgbClr val="EBF8FF"/>
          </a:solidFill>
          <a:ln>
            <a:solidFill>
              <a:srgbClr val="D9EAF7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W(t+1) = W(t) x (1 + r - 2%) + $200K</a:t>
            </a:r>
          </a:p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Solve for r so W(5) = $23.00mm</a:t>
            </a:r>
          </a:p>
        </p:txBody>
      </p:sp>
      <p:sp>
        <p:nvSpPr>
          <p:cNvPr id="47" name="Rect 47"/>
          <p:cNvSpPr/>
          <p:nvPr/>
        </p:nvSpPr>
        <p:spPr>
          <a:xfrm>
            <a:off x="4434840" y="1993392"/>
            <a:ext cx="1188720" cy="713232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4507992" y="2048256"/>
            <a:ext cx="104241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Required Ret.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07992" y="2295144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6.02%</a:t>
            </a:r>
          </a:p>
        </p:txBody>
      </p:sp>
      <p:sp>
        <p:nvSpPr>
          <p:cNvPr id="50" name="Rect 50"/>
          <p:cNvSpPr/>
          <p:nvPr/>
        </p:nvSpPr>
        <p:spPr>
          <a:xfrm>
            <a:off x="5715000" y="1993392"/>
            <a:ext cx="1188720" cy="713232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1"/>
          <p:cNvSpPr txBox="1"/>
          <p:nvPr/>
        </p:nvSpPr>
        <p:spPr>
          <a:xfrm>
            <a:off x="5788152" y="2048256"/>
            <a:ext cx="104241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Current Ret.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788152" y="2295144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6.40%</a:t>
            </a:r>
          </a:p>
        </p:txBody>
      </p:sp>
      <p:sp>
        <p:nvSpPr>
          <p:cNvPr id="53" name="Rect 53"/>
          <p:cNvSpPr/>
          <p:nvPr/>
        </p:nvSpPr>
        <p:spPr>
          <a:xfrm>
            <a:off x="6995160" y="1993392"/>
            <a:ext cx="1325880" cy="713232"/>
          </a:xfrm>
          <a:prstGeom prst="rect">
            <a:avLst/>
          </a:prstGeom>
          <a:solidFill>
            <a:srgbClr val="E2F0D9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7068312" y="2048256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Return Gap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068312" y="2295144"/>
            <a:ext cx="117957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+0.38 pts</a:t>
            </a:r>
          </a:p>
        </p:txBody>
      </p:sp>
      <p:sp>
        <p:nvSpPr>
          <p:cNvPr id="56" name="Rect 56"/>
          <p:cNvSpPr/>
          <p:nvPr/>
        </p:nvSpPr>
        <p:spPr>
          <a:xfrm>
            <a:off x="4434840" y="2907792"/>
            <a:ext cx="438912" cy="26517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4434840" y="2907792"/>
            <a:ext cx="43891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Year</a:t>
            </a:r>
          </a:p>
        </p:txBody>
      </p:sp>
      <p:sp>
        <p:nvSpPr>
          <p:cNvPr id="58" name="Rect 58"/>
          <p:cNvSpPr/>
          <p:nvPr/>
        </p:nvSpPr>
        <p:spPr>
          <a:xfrm>
            <a:off x="4873752" y="2907792"/>
            <a:ext cx="749808" cy="26517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4873752" y="2907792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Start</a:t>
            </a:r>
          </a:p>
        </p:txBody>
      </p:sp>
      <p:sp>
        <p:nvSpPr>
          <p:cNvPr id="60" name="Rect 60"/>
          <p:cNvSpPr/>
          <p:nvPr/>
        </p:nvSpPr>
        <p:spPr>
          <a:xfrm>
            <a:off x="5623560" y="2907792"/>
            <a:ext cx="548640" cy="26517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5623560" y="2907792"/>
            <a:ext cx="548640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Ret.</a:t>
            </a:r>
          </a:p>
        </p:txBody>
      </p:sp>
      <p:sp>
        <p:nvSpPr>
          <p:cNvPr id="62" name="Rect 62"/>
          <p:cNvSpPr/>
          <p:nvPr/>
        </p:nvSpPr>
        <p:spPr>
          <a:xfrm>
            <a:off x="6172200" y="2907792"/>
            <a:ext cx="530352" cy="26517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6172200" y="2907792"/>
            <a:ext cx="53035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Inc.</a:t>
            </a:r>
          </a:p>
        </p:txBody>
      </p:sp>
      <p:sp>
        <p:nvSpPr>
          <p:cNvPr id="64" name="Rect 64"/>
          <p:cNvSpPr/>
          <p:nvPr/>
        </p:nvSpPr>
        <p:spPr>
          <a:xfrm>
            <a:off x="6702552" y="2907792"/>
            <a:ext cx="566928" cy="26517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6702552" y="2907792"/>
            <a:ext cx="56692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Spend</a:t>
            </a:r>
          </a:p>
        </p:txBody>
      </p:sp>
      <p:sp>
        <p:nvSpPr>
          <p:cNvPr id="66" name="Rect 66"/>
          <p:cNvSpPr/>
          <p:nvPr/>
        </p:nvSpPr>
        <p:spPr>
          <a:xfrm>
            <a:off x="7269480" y="2907792"/>
            <a:ext cx="749808" cy="26517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7269480" y="2907792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End</a:t>
            </a:r>
          </a:p>
        </p:txBody>
      </p:sp>
      <p:sp>
        <p:nvSpPr>
          <p:cNvPr id="68" name="Rect 68"/>
          <p:cNvSpPr/>
          <p:nvPr/>
        </p:nvSpPr>
        <p:spPr>
          <a:xfrm>
            <a:off x="4434840" y="3172968"/>
            <a:ext cx="438912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9"/>
          <p:cNvSpPr txBox="1"/>
          <p:nvPr/>
        </p:nvSpPr>
        <p:spPr>
          <a:xfrm>
            <a:off x="4434840" y="3172968"/>
            <a:ext cx="43891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Yr 1</a:t>
            </a:r>
          </a:p>
        </p:txBody>
      </p:sp>
      <p:sp>
        <p:nvSpPr>
          <p:cNvPr id="70" name="Rect 70"/>
          <p:cNvSpPr/>
          <p:nvPr/>
        </p:nvSpPr>
        <p:spPr>
          <a:xfrm>
            <a:off x="4873752" y="3172968"/>
            <a:ext cx="74980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4873752" y="3172968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$18.00mm</a:t>
            </a:r>
          </a:p>
        </p:txBody>
      </p:sp>
      <p:sp>
        <p:nvSpPr>
          <p:cNvPr id="72" name="Rect 72"/>
          <p:cNvSpPr/>
          <p:nvPr/>
        </p:nvSpPr>
        <p:spPr>
          <a:xfrm>
            <a:off x="5623560" y="3172968"/>
            <a:ext cx="54864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 73"/>
          <p:cNvSpPr txBox="1"/>
          <p:nvPr/>
        </p:nvSpPr>
        <p:spPr>
          <a:xfrm>
            <a:off x="5623560" y="3172968"/>
            <a:ext cx="548640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74" name="Rect 74"/>
          <p:cNvSpPr/>
          <p:nvPr/>
        </p:nvSpPr>
        <p:spPr>
          <a:xfrm>
            <a:off x="6172200" y="3172968"/>
            <a:ext cx="530352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5"/>
          <p:cNvSpPr txBox="1"/>
          <p:nvPr/>
        </p:nvSpPr>
        <p:spPr>
          <a:xfrm>
            <a:off x="6172200" y="3172968"/>
            <a:ext cx="53035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$200K</a:t>
            </a:r>
          </a:p>
        </p:txBody>
      </p:sp>
      <p:sp>
        <p:nvSpPr>
          <p:cNvPr id="76" name="Rect 76"/>
          <p:cNvSpPr/>
          <p:nvPr/>
        </p:nvSpPr>
        <p:spPr>
          <a:xfrm>
            <a:off x="6702552" y="3172968"/>
            <a:ext cx="56692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 77"/>
          <p:cNvSpPr txBox="1"/>
          <p:nvPr/>
        </p:nvSpPr>
        <p:spPr>
          <a:xfrm>
            <a:off x="6702552" y="3172968"/>
            <a:ext cx="56692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$360K</a:t>
            </a:r>
          </a:p>
        </p:txBody>
      </p:sp>
      <p:sp>
        <p:nvSpPr>
          <p:cNvPr id="78" name="Rect 78"/>
          <p:cNvSpPr/>
          <p:nvPr/>
        </p:nvSpPr>
        <p:spPr>
          <a:xfrm>
            <a:off x="7269480" y="3172968"/>
            <a:ext cx="74980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 79"/>
          <p:cNvSpPr txBox="1"/>
          <p:nvPr/>
        </p:nvSpPr>
        <p:spPr>
          <a:xfrm>
            <a:off x="7269480" y="3172968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$18.92mm</a:t>
            </a:r>
          </a:p>
        </p:txBody>
      </p:sp>
      <p:sp>
        <p:nvSpPr>
          <p:cNvPr id="80" name="Rect 80"/>
          <p:cNvSpPr/>
          <p:nvPr/>
        </p:nvSpPr>
        <p:spPr>
          <a:xfrm>
            <a:off x="4434840" y="3438144"/>
            <a:ext cx="438912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4434840" y="3438144"/>
            <a:ext cx="43891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Yr 2</a:t>
            </a:r>
          </a:p>
        </p:txBody>
      </p:sp>
      <p:sp>
        <p:nvSpPr>
          <p:cNvPr id="82" name="Rect 82"/>
          <p:cNvSpPr/>
          <p:nvPr/>
        </p:nvSpPr>
        <p:spPr>
          <a:xfrm>
            <a:off x="4873752" y="3438144"/>
            <a:ext cx="749808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3"/>
          <p:cNvSpPr txBox="1"/>
          <p:nvPr/>
        </p:nvSpPr>
        <p:spPr>
          <a:xfrm>
            <a:off x="4873752" y="3438144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$18.92mm</a:t>
            </a:r>
          </a:p>
        </p:txBody>
      </p:sp>
      <p:sp>
        <p:nvSpPr>
          <p:cNvPr id="84" name="Rect 84"/>
          <p:cNvSpPr/>
          <p:nvPr/>
        </p:nvSpPr>
        <p:spPr>
          <a:xfrm>
            <a:off x="5623560" y="3438144"/>
            <a:ext cx="548640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 85"/>
          <p:cNvSpPr txBox="1"/>
          <p:nvPr/>
        </p:nvSpPr>
        <p:spPr>
          <a:xfrm>
            <a:off x="5623560" y="3438144"/>
            <a:ext cx="548640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86" name="Rect 86"/>
          <p:cNvSpPr/>
          <p:nvPr/>
        </p:nvSpPr>
        <p:spPr>
          <a:xfrm>
            <a:off x="6172200" y="3438144"/>
            <a:ext cx="530352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 87"/>
          <p:cNvSpPr txBox="1"/>
          <p:nvPr/>
        </p:nvSpPr>
        <p:spPr>
          <a:xfrm>
            <a:off x="6172200" y="3438144"/>
            <a:ext cx="53035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$200K</a:t>
            </a:r>
          </a:p>
        </p:txBody>
      </p:sp>
      <p:sp>
        <p:nvSpPr>
          <p:cNvPr id="88" name="Rect 88"/>
          <p:cNvSpPr/>
          <p:nvPr/>
        </p:nvSpPr>
        <p:spPr>
          <a:xfrm>
            <a:off x="6702552" y="3438144"/>
            <a:ext cx="566928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89"/>
          <p:cNvSpPr txBox="1"/>
          <p:nvPr/>
        </p:nvSpPr>
        <p:spPr>
          <a:xfrm>
            <a:off x="6702552" y="3438144"/>
            <a:ext cx="56692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$378K</a:t>
            </a:r>
          </a:p>
        </p:txBody>
      </p:sp>
      <p:sp>
        <p:nvSpPr>
          <p:cNvPr id="90" name="Rect 90"/>
          <p:cNvSpPr/>
          <p:nvPr/>
        </p:nvSpPr>
        <p:spPr>
          <a:xfrm>
            <a:off x="7269480" y="3438144"/>
            <a:ext cx="749808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 91"/>
          <p:cNvSpPr txBox="1"/>
          <p:nvPr/>
        </p:nvSpPr>
        <p:spPr>
          <a:xfrm>
            <a:off x="7269480" y="3438144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$19.88mm</a:t>
            </a:r>
          </a:p>
        </p:txBody>
      </p:sp>
      <p:sp>
        <p:nvSpPr>
          <p:cNvPr id="92" name="Rect 92"/>
          <p:cNvSpPr/>
          <p:nvPr/>
        </p:nvSpPr>
        <p:spPr>
          <a:xfrm>
            <a:off x="4434840" y="3703320"/>
            <a:ext cx="438912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 93"/>
          <p:cNvSpPr txBox="1"/>
          <p:nvPr/>
        </p:nvSpPr>
        <p:spPr>
          <a:xfrm>
            <a:off x="4434840" y="3703320"/>
            <a:ext cx="43891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Yr 3</a:t>
            </a:r>
          </a:p>
        </p:txBody>
      </p:sp>
      <p:sp>
        <p:nvSpPr>
          <p:cNvPr id="94" name="Rect 94"/>
          <p:cNvSpPr/>
          <p:nvPr/>
        </p:nvSpPr>
        <p:spPr>
          <a:xfrm>
            <a:off x="4873752" y="3703320"/>
            <a:ext cx="74980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Box 95"/>
          <p:cNvSpPr txBox="1"/>
          <p:nvPr/>
        </p:nvSpPr>
        <p:spPr>
          <a:xfrm>
            <a:off x="4873752" y="3703320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$19.88mm</a:t>
            </a:r>
          </a:p>
        </p:txBody>
      </p:sp>
      <p:sp>
        <p:nvSpPr>
          <p:cNvPr id="96" name="Rect 96"/>
          <p:cNvSpPr/>
          <p:nvPr/>
        </p:nvSpPr>
        <p:spPr>
          <a:xfrm>
            <a:off x="5623560" y="3703320"/>
            <a:ext cx="54864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 97"/>
          <p:cNvSpPr txBox="1"/>
          <p:nvPr/>
        </p:nvSpPr>
        <p:spPr>
          <a:xfrm>
            <a:off x="5623560" y="3703320"/>
            <a:ext cx="548640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98" name="Rect 98"/>
          <p:cNvSpPr/>
          <p:nvPr/>
        </p:nvSpPr>
        <p:spPr>
          <a:xfrm>
            <a:off x="6172200" y="3703320"/>
            <a:ext cx="530352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Box 99"/>
          <p:cNvSpPr txBox="1"/>
          <p:nvPr/>
        </p:nvSpPr>
        <p:spPr>
          <a:xfrm>
            <a:off x="6172200" y="3703320"/>
            <a:ext cx="53035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$200K</a:t>
            </a:r>
          </a:p>
        </p:txBody>
      </p:sp>
      <p:sp>
        <p:nvSpPr>
          <p:cNvPr id="100" name="Rect 100"/>
          <p:cNvSpPr/>
          <p:nvPr/>
        </p:nvSpPr>
        <p:spPr>
          <a:xfrm>
            <a:off x="6702552" y="3703320"/>
            <a:ext cx="56692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6702552" y="3703320"/>
            <a:ext cx="56692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$398K</a:t>
            </a:r>
          </a:p>
        </p:txBody>
      </p:sp>
      <p:sp>
        <p:nvSpPr>
          <p:cNvPr id="102" name="Rect 102"/>
          <p:cNvSpPr/>
          <p:nvPr/>
        </p:nvSpPr>
        <p:spPr>
          <a:xfrm>
            <a:off x="7269480" y="3703320"/>
            <a:ext cx="74980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Box 103"/>
          <p:cNvSpPr txBox="1"/>
          <p:nvPr/>
        </p:nvSpPr>
        <p:spPr>
          <a:xfrm>
            <a:off x="7269480" y="3703320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$20.88mm</a:t>
            </a:r>
          </a:p>
        </p:txBody>
      </p:sp>
      <p:sp>
        <p:nvSpPr>
          <p:cNvPr id="104" name="Rect 104"/>
          <p:cNvSpPr/>
          <p:nvPr/>
        </p:nvSpPr>
        <p:spPr>
          <a:xfrm>
            <a:off x="4434840" y="3968496"/>
            <a:ext cx="438912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5"/>
          <p:cNvSpPr txBox="1"/>
          <p:nvPr/>
        </p:nvSpPr>
        <p:spPr>
          <a:xfrm>
            <a:off x="4434840" y="3968496"/>
            <a:ext cx="43891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Yr 4</a:t>
            </a:r>
          </a:p>
        </p:txBody>
      </p:sp>
      <p:sp>
        <p:nvSpPr>
          <p:cNvPr id="106" name="Rect 106"/>
          <p:cNvSpPr/>
          <p:nvPr/>
        </p:nvSpPr>
        <p:spPr>
          <a:xfrm>
            <a:off x="4873752" y="3968496"/>
            <a:ext cx="749808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4873752" y="3968496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$20.88mm</a:t>
            </a:r>
          </a:p>
        </p:txBody>
      </p:sp>
      <p:sp>
        <p:nvSpPr>
          <p:cNvPr id="108" name="Rect 108"/>
          <p:cNvSpPr/>
          <p:nvPr/>
        </p:nvSpPr>
        <p:spPr>
          <a:xfrm>
            <a:off x="5623560" y="3968496"/>
            <a:ext cx="548640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Box 109"/>
          <p:cNvSpPr txBox="1"/>
          <p:nvPr/>
        </p:nvSpPr>
        <p:spPr>
          <a:xfrm>
            <a:off x="5623560" y="3968496"/>
            <a:ext cx="548640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110" name="Rect 110"/>
          <p:cNvSpPr/>
          <p:nvPr/>
        </p:nvSpPr>
        <p:spPr>
          <a:xfrm>
            <a:off x="6172200" y="3968496"/>
            <a:ext cx="530352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1"/>
          <p:cNvSpPr txBox="1"/>
          <p:nvPr/>
        </p:nvSpPr>
        <p:spPr>
          <a:xfrm>
            <a:off x="6172200" y="3968496"/>
            <a:ext cx="53035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$200K</a:t>
            </a:r>
          </a:p>
        </p:txBody>
      </p:sp>
      <p:sp>
        <p:nvSpPr>
          <p:cNvPr id="112" name="Rect 112"/>
          <p:cNvSpPr/>
          <p:nvPr/>
        </p:nvSpPr>
        <p:spPr>
          <a:xfrm>
            <a:off x="6702552" y="3968496"/>
            <a:ext cx="566928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Box 113"/>
          <p:cNvSpPr txBox="1"/>
          <p:nvPr/>
        </p:nvSpPr>
        <p:spPr>
          <a:xfrm>
            <a:off x="6702552" y="3968496"/>
            <a:ext cx="56692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$418K</a:t>
            </a:r>
          </a:p>
        </p:txBody>
      </p:sp>
      <p:sp>
        <p:nvSpPr>
          <p:cNvPr id="114" name="Rect 114"/>
          <p:cNvSpPr/>
          <p:nvPr/>
        </p:nvSpPr>
        <p:spPr>
          <a:xfrm>
            <a:off x="7269480" y="3968496"/>
            <a:ext cx="749808" cy="26517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 115"/>
          <p:cNvSpPr txBox="1"/>
          <p:nvPr/>
        </p:nvSpPr>
        <p:spPr>
          <a:xfrm>
            <a:off x="7269480" y="3968496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$21.92mm</a:t>
            </a:r>
          </a:p>
        </p:txBody>
      </p:sp>
      <p:sp>
        <p:nvSpPr>
          <p:cNvPr id="116" name="Rect 116"/>
          <p:cNvSpPr/>
          <p:nvPr/>
        </p:nvSpPr>
        <p:spPr>
          <a:xfrm>
            <a:off x="4434840" y="4233672"/>
            <a:ext cx="438912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7"/>
          <p:cNvSpPr txBox="1"/>
          <p:nvPr/>
        </p:nvSpPr>
        <p:spPr>
          <a:xfrm>
            <a:off x="4434840" y="4233672"/>
            <a:ext cx="43891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Yr 5</a:t>
            </a:r>
          </a:p>
        </p:txBody>
      </p:sp>
      <p:sp>
        <p:nvSpPr>
          <p:cNvPr id="118" name="Rect 118"/>
          <p:cNvSpPr/>
          <p:nvPr/>
        </p:nvSpPr>
        <p:spPr>
          <a:xfrm>
            <a:off x="4873752" y="4233672"/>
            <a:ext cx="74980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Box 119"/>
          <p:cNvSpPr txBox="1"/>
          <p:nvPr/>
        </p:nvSpPr>
        <p:spPr>
          <a:xfrm>
            <a:off x="4873752" y="4233672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$21.92mm</a:t>
            </a:r>
          </a:p>
        </p:txBody>
      </p:sp>
      <p:sp>
        <p:nvSpPr>
          <p:cNvPr id="120" name="Rect 120"/>
          <p:cNvSpPr/>
          <p:nvPr/>
        </p:nvSpPr>
        <p:spPr>
          <a:xfrm>
            <a:off x="5623560" y="4233672"/>
            <a:ext cx="54864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Box 121"/>
          <p:cNvSpPr txBox="1"/>
          <p:nvPr/>
        </p:nvSpPr>
        <p:spPr>
          <a:xfrm>
            <a:off x="5623560" y="4233672"/>
            <a:ext cx="548640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122" name="Rect 122"/>
          <p:cNvSpPr/>
          <p:nvPr/>
        </p:nvSpPr>
        <p:spPr>
          <a:xfrm>
            <a:off x="6172200" y="4233672"/>
            <a:ext cx="530352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 123"/>
          <p:cNvSpPr txBox="1"/>
          <p:nvPr/>
        </p:nvSpPr>
        <p:spPr>
          <a:xfrm>
            <a:off x="6172200" y="4233672"/>
            <a:ext cx="530352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$200K</a:t>
            </a:r>
          </a:p>
        </p:txBody>
      </p:sp>
      <p:sp>
        <p:nvSpPr>
          <p:cNvPr id="124" name="Rect 124"/>
          <p:cNvSpPr/>
          <p:nvPr/>
        </p:nvSpPr>
        <p:spPr>
          <a:xfrm>
            <a:off x="6702552" y="4233672"/>
            <a:ext cx="56692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Box 125"/>
          <p:cNvSpPr txBox="1"/>
          <p:nvPr/>
        </p:nvSpPr>
        <p:spPr>
          <a:xfrm>
            <a:off x="6702552" y="4233672"/>
            <a:ext cx="56692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$438K</a:t>
            </a:r>
          </a:p>
        </p:txBody>
      </p:sp>
      <p:sp>
        <p:nvSpPr>
          <p:cNvPr id="126" name="Rect 126"/>
          <p:cNvSpPr/>
          <p:nvPr/>
        </p:nvSpPr>
        <p:spPr>
          <a:xfrm>
            <a:off x="7269480" y="4233672"/>
            <a:ext cx="749808" cy="26517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Box 127"/>
          <p:cNvSpPr txBox="1"/>
          <p:nvPr/>
        </p:nvSpPr>
        <p:spPr>
          <a:xfrm>
            <a:off x="7269480" y="4233672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$23.00mm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8732520" y="1170432"/>
            <a:ext cx="306324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CURRENT PORTFOLIO</a:t>
            </a:r>
          </a:p>
        </p:txBody>
      </p:sp>
      <p:sp>
        <p:nvSpPr>
          <p:cNvPr id="129" name="Rect 129"/>
          <p:cNvSpPr/>
          <p:nvPr/>
        </p:nvSpPr>
        <p:spPr>
          <a:xfrm>
            <a:off x="8732520" y="1517904"/>
            <a:ext cx="1417320" cy="777240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Box 130"/>
          <p:cNvSpPr txBox="1"/>
          <p:nvPr/>
        </p:nvSpPr>
        <p:spPr>
          <a:xfrm>
            <a:off x="8805672" y="1572768"/>
            <a:ext cx="127101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Ann. Return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8805672" y="1819656"/>
            <a:ext cx="1271016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6.40%</a:t>
            </a:r>
          </a:p>
        </p:txBody>
      </p:sp>
      <p:sp>
        <p:nvSpPr>
          <p:cNvPr id="132" name="Rect 132"/>
          <p:cNvSpPr/>
          <p:nvPr/>
        </p:nvSpPr>
        <p:spPr>
          <a:xfrm>
            <a:off x="10332720" y="1517904"/>
            <a:ext cx="1463040" cy="777240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Box 133"/>
          <p:cNvSpPr txBox="1"/>
          <p:nvPr/>
        </p:nvSpPr>
        <p:spPr>
          <a:xfrm>
            <a:off x="10405872" y="1572768"/>
            <a:ext cx="131673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Ann. Vol.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405872" y="1819656"/>
            <a:ext cx="1316736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8.40%</a:t>
            </a:r>
          </a:p>
        </p:txBody>
      </p:sp>
      <p:sp>
        <p:nvSpPr>
          <p:cNvPr id="135" name="Rect 135"/>
          <p:cNvSpPr/>
          <p:nvPr/>
        </p:nvSpPr>
        <p:spPr>
          <a:xfrm>
            <a:off x="8732520" y="2432304"/>
            <a:ext cx="1417320" cy="777240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Box 136"/>
          <p:cNvSpPr txBox="1"/>
          <p:nvPr/>
        </p:nvSpPr>
        <p:spPr>
          <a:xfrm>
            <a:off x="8805672" y="2487168"/>
            <a:ext cx="127101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Sharpe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8805672" y="2734056"/>
            <a:ext cx="1271016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0.458</a:t>
            </a:r>
          </a:p>
        </p:txBody>
      </p:sp>
      <p:sp>
        <p:nvSpPr>
          <p:cNvPr id="138" name="Rect 138"/>
          <p:cNvSpPr/>
          <p:nvPr/>
        </p:nvSpPr>
        <p:spPr>
          <a:xfrm>
            <a:off x="10332720" y="2432304"/>
            <a:ext cx="1463040" cy="777240"/>
          </a:xfrm>
          <a:prstGeom prst="rect">
            <a:avLst/>
          </a:prstGeom>
          <a:solidFill>
            <a:srgbClr val="F4CCC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Box 139"/>
          <p:cNvSpPr txBox="1"/>
          <p:nvPr/>
        </p:nvSpPr>
        <p:spPr>
          <a:xfrm>
            <a:off x="10405872" y="2487168"/>
            <a:ext cx="131673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Worst DD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0405872" y="2734056"/>
            <a:ext cx="1316736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-37.0%</a:t>
            </a:r>
          </a:p>
        </p:txBody>
      </p:sp>
      <p:sp>
        <p:nvSpPr>
          <p:cNvPr id="141" name="Rect 141"/>
          <p:cNvSpPr/>
          <p:nvPr/>
        </p:nvSpPr>
        <p:spPr>
          <a:xfrm>
            <a:off x="8732520" y="3584448"/>
            <a:ext cx="2148840" cy="34747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 142"/>
          <p:cNvSpPr txBox="1"/>
          <p:nvPr/>
        </p:nvSpPr>
        <p:spPr>
          <a:xfrm>
            <a:off x="8732520" y="35844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Goal</a:t>
            </a:r>
          </a:p>
        </p:txBody>
      </p:sp>
      <p:sp>
        <p:nvSpPr>
          <p:cNvPr id="143" name="Rect 143"/>
          <p:cNvSpPr/>
          <p:nvPr/>
        </p:nvSpPr>
        <p:spPr>
          <a:xfrm>
            <a:off x="10881360" y="3584448"/>
            <a:ext cx="777240" cy="34747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Box 144"/>
          <p:cNvSpPr txBox="1"/>
          <p:nvPr/>
        </p:nvSpPr>
        <p:spPr>
          <a:xfrm>
            <a:off x="10881360" y="3584448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</a:t>
            </a:r>
          </a:p>
        </p:txBody>
      </p:sp>
      <p:sp>
        <p:nvSpPr>
          <p:cNvPr id="145" name="Rect 145"/>
          <p:cNvSpPr/>
          <p:nvPr/>
        </p:nvSpPr>
        <p:spPr>
          <a:xfrm>
            <a:off x="8732520" y="3931920"/>
            <a:ext cx="2148840" cy="34747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Box 146"/>
          <p:cNvSpPr txBox="1"/>
          <p:nvPr/>
        </p:nvSpPr>
        <p:spPr>
          <a:xfrm>
            <a:off x="8732520" y="393192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Return / Wealth Target</a:t>
            </a:r>
          </a:p>
        </p:txBody>
      </p:sp>
      <p:sp>
        <p:nvSpPr>
          <p:cNvPr id="147" name="Rect 147"/>
          <p:cNvSpPr/>
          <p:nvPr/>
        </p:nvSpPr>
        <p:spPr>
          <a:xfrm>
            <a:off x="10881360" y="3931920"/>
            <a:ext cx="777240" cy="34747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Box 148"/>
          <p:cNvSpPr txBox="1"/>
          <p:nvPr/>
        </p:nvSpPr>
        <p:spPr>
          <a:xfrm>
            <a:off x="10881360" y="3931920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YES</a:t>
            </a:r>
          </a:p>
        </p:txBody>
      </p:sp>
      <p:sp>
        <p:nvSpPr>
          <p:cNvPr id="149" name="Rect 149"/>
          <p:cNvSpPr/>
          <p:nvPr/>
        </p:nvSpPr>
        <p:spPr>
          <a:xfrm>
            <a:off x="8732520" y="4279392"/>
            <a:ext cx="2148840" cy="34747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Box 150"/>
          <p:cNvSpPr txBox="1"/>
          <p:nvPr/>
        </p:nvSpPr>
        <p:spPr>
          <a:xfrm>
            <a:off x="8732520" y="427939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Drawdown &lt;= 15%</a:t>
            </a:r>
          </a:p>
        </p:txBody>
      </p:sp>
      <p:sp>
        <p:nvSpPr>
          <p:cNvPr id="151" name="Rect 151"/>
          <p:cNvSpPr/>
          <p:nvPr/>
        </p:nvSpPr>
        <p:spPr>
          <a:xfrm>
            <a:off x="10881360" y="4279392"/>
            <a:ext cx="777240" cy="34747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Box 152"/>
          <p:cNvSpPr txBox="1"/>
          <p:nvPr/>
        </p:nvSpPr>
        <p:spPr>
          <a:xfrm>
            <a:off x="10881360" y="4279392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NO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8732520" y="4681728"/>
            <a:ext cx="3063240" cy="804672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The current allocation reaches the wealth target on average, but its historical drawdown is more than double the client's stated limit.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2 — Investment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Risk-return profile · distribution characteristics · factor profiles · asset interpretation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" y="1170432"/>
            <a:ext cx="717804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 RISK-RETURN STATISTICS (ANNUALISED, JAN 2004-DEC 2013)</a:t>
            </a:r>
          </a:p>
        </p:txBody>
      </p:sp>
      <p:sp>
        <p:nvSpPr>
          <p:cNvPr id="9" name="Rect 9"/>
          <p:cNvSpPr/>
          <p:nvPr/>
        </p:nvSpPr>
        <p:spPr>
          <a:xfrm>
            <a:off x="320040" y="1517904"/>
            <a:ext cx="1207008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20040" y="1517904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</a:t>
            </a:r>
          </a:p>
        </p:txBody>
      </p:sp>
      <p:sp>
        <p:nvSpPr>
          <p:cNvPr id="11" name="Rect 11"/>
          <p:cNvSpPr/>
          <p:nvPr/>
        </p:nvSpPr>
        <p:spPr>
          <a:xfrm>
            <a:off x="1527048" y="1517904"/>
            <a:ext cx="932688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27048" y="1517904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Ann. Ret</a:t>
            </a:r>
          </a:p>
        </p:txBody>
      </p:sp>
      <p:sp>
        <p:nvSpPr>
          <p:cNvPr id="13" name="Rect 13"/>
          <p:cNvSpPr/>
          <p:nvPr/>
        </p:nvSpPr>
        <p:spPr>
          <a:xfrm>
            <a:off x="2459736" y="1517904"/>
            <a:ext cx="841248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459736" y="151790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Ann. Vol</a:t>
            </a:r>
          </a:p>
        </p:txBody>
      </p:sp>
      <p:sp>
        <p:nvSpPr>
          <p:cNvPr id="15" name="Rect 15"/>
          <p:cNvSpPr/>
          <p:nvPr/>
        </p:nvSpPr>
        <p:spPr>
          <a:xfrm>
            <a:off x="3300984" y="1517904"/>
            <a:ext cx="749808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300984" y="151790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Sharpe</a:t>
            </a:r>
          </a:p>
        </p:txBody>
      </p:sp>
      <p:sp>
        <p:nvSpPr>
          <p:cNvPr id="17" name="Rect 17"/>
          <p:cNvSpPr/>
          <p:nvPr/>
        </p:nvSpPr>
        <p:spPr>
          <a:xfrm>
            <a:off x="4050791" y="1517904"/>
            <a:ext cx="786384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4050791" y="151790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Skew</a:t>
            </a:r>
          </a:p>
        </p:txBody>
      </p:sp>
      <p:sp>
        <p:nvSpPr>
          <p:cNvPr id="19" name="Rect 19"/>
          <p:cNvSpPr/>
          <p:nvPr/>
        </p:nvSpPr>
        <p:spPr>
          <a:xfrm>
            <a:off x="4837176" y="1517904"/>
            <a:ext cx="786384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4837176" y="151790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Kurt.</a:t>
            </a:r>
          </a:p>
        </p:txBody>
      </p:sp>
      <p:sp>
        <p:nvSpPr>
          <p:cNvPr id="21" name="Rect 21"/>
          <p:cNvSpPr/>
          <p:nvPr/>
        </p:nvSpPr>
        <p:spPr>
          <a:xfrm>
            <a:off x="5623560" y="1517904"/>
            <a:ext cx="841248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623560" y="151790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Max DD</a:t>
            </a:r>
          </a:p>
        </p:txBody>
      </p:sp>
      <p:sp>
        <p:nvSpPr>
          <p:cNvPr id="23" name="Rect 23"/>
          <p:cNvSpPr/>
          <p:nvPr/>
        </p:nvSpPr>
        <p:spPr>
          <a:xfrm>
            <a:off x="320040" y="1792224"/>
            <a:ext cx="120700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320040" y="1792224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25" name="Rect 25"/>
          <p:cNvSpPr/>
          <p:nvPr/>
        </p:nvSpPr>
        <p:spPr>
          <a:xfrm>
            <a:off x="1527048" y="1792224"/>
            <a:ext cx="9326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527048" y="1792224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4.55%</a:t>
            </a:r>
          </a:p>
        </p:txBody>
      </p:sp>
      <p:sp>
        <p:nvSpPr>
          <p:cNvPr id="27" name="Rect 27"/>
          <p:cNvSpPr/>
          <p:nvPr/>
        </p:nvSpPr>
        <p:spPr>
          <a:xfrm>
            <a:off x="2459736" y="1792224"/>
            <a:ext cx="84124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2459736" y="179222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2.65%</a:t>
            </a:r>
          </a:p>
        </p:txBody>
      </p:sp>
      <p:sp>
        <p:nvSpPr>
          <p:cNvPr id="29" name="Rect 29"/>
          <p:cNvSpPr/>
          <p:nvPr/>
        </p:nvSpPr>
        <p:spPr>
          <a:xfrm>
            <a:off x="3300984" y="1792224"/>
            <a:ext cx="74980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3300984" y="179222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0.754</a:t>
            </a:r>
          </a:p>
        </p:txBody>
      </p:sp>
      <p:sp>
        <p:nvSpPr>
          <p:cNvPr id="31" name="Rect 31"/>
          <p:cNvSpPr/>
          <p:nvPr/>
        </p:nvSpPr>
        <p:spPr>
          <a:xfrm>
            <a:off x="4050791" y="1792224"/>
            <a:ext cx="786384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4050791" y="179222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0.46</a:t>
            </a:r>
          </a:p>
        </p:txBody>
      </p:sp>
      <p:sp>
        <p:nvSpPr>
          <p:cNvPr id="33" name="Rect 33"/>
          <p:cNvSpPr/>
          <p:nvPr/>
        </p:nvSpPr>
        <p:spPr>
          <a:xfrm>
            <a:off x="4837176" y="1792224"/>
            <a:ext cx="786384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4837176" y="179222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3.36</a:t>
            </a:r>
          </a:p>
        </p:txBody>
      </p:sp>
      <p:sp>
        <p:nvSpPr>
          <p:cNvPr id="35" name="Rect 35"/>
          <p:cNvSpPr/>
          <p:nvPr/>
        </p:nvSpPr>
        <p:spPr>
          <a:xfrm>
            <a:off x="5623560" y="1792224"/>
            <a:ext cx="84124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5623560" y="179222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-2.8%</a:t>
            </a:r>
          </a:p>
        </p:txBody>
      </p:sp>
      <p:sp>
        <p:nvSpPr>
          <p:cNvPr id="37" name="Rect 37"/>
          <p:cNvSpPr/>
          <p:nvPr/>
        </p:nvSpPr>
        <p:spPr>
          <a:xfrm>
            <a:off x="320040" y="2066543"/>
            <a:ext cx="120700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320040" y="2066543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39" name="Rect 39"/>
          <p:cNvSpPr/>
          <p:nvPr/>
        </p:nvSpPr>
        <p:spPr>
          <a:xfrm>
            <a:off x="1527048" y="2066543"/>
            <a:ext cx="93268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527048" y="2066543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8.40%</a:t>
            </a:r>
          </a:p>
        </p:txBody>
      </p:sp>
      <p:sp>
        <p:nvSpPr>
          <p:cNvPr id="41" name="Rect 41"/>
          <p:cNvSpPr/>
          <p:nvPr/>
        </p:nvSpPr>
        <p:spPr>
          <a:xfrm>
            <a:off x="2459736" y="2066543"/>
            <a:ext cx="84124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2459736" y="2066543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18.63%</a:t>
            </a:r>
          </a:p>
        </p:txBody>
      </p:sp>
      <p:sp>
        <p:nvSpPr>
          <p:cNvPr id="43" name="Rect 43"/>
          <p:cNvSpPr/>
          <p:nvPr/>
        </p:nvSpPr>
        <p:spPr>
          <a:xfrm>
            <a:off x="3300984" y="2066543"/>
            <a:ext cx="74980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3300984" y="206654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0.314</a:t>
            </a:r>
          </a:p>
        </p:txBody>
      </p:sp>
      <p:sp>
        <p:nvSpPr>
          <p:cNvPr id="45" name="Rect 45"/>
          <p:cNvSpPr/>
          <p:nvPr/>
        </p:nvSpPr>
        <p:spPr>
          <a:xfrm>
            <a:off x="4050791" y="2066543"/>
            <a:ext cx="786384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4050791" y="2066543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-0.54</a:t>
            </a:r>
          </a:p>
        </p:txBody>
      </p:sp>
      <p:sp>
        <p:nvSpPr>
          <p:cNvPr id="47" name="Rect 47"/>
          <p:cNvSpPr/>
          <p:nvPr/>
        </p:nvSpPr>
        <p:spPr>
          <a:xfrm>
            <a:off x="4837176" y="2066543"/>
            <a:ext cx="786384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4837176" y="2066543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0.69</a:t>
            </a:r>
          </a:p>
        </p:txBody>
      </p:sp>
      <p:sp>
        <p:nvSpPr>
          <p:cNvPr id="49" name="Rect 49"/>
          <p:cNvSpPr/>
          <p:nvPr/>
        </p:nvSpPr>
        <p:spPr>
          <a:xfrm>
            <a:off x="5623560" y="2066543"/>
            <a:ext cx="84124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5623560" y="2066543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-50.8%</a:t>
            </a:r>
          </a:p>
        </p:txBody>
      </p:sp>
      <p:sp>
        <p:nvSpPr>
          <p:cNvPr id="51" name="Rect 51"/>
          <p:cNvSpPr/>
          <p:nvPr/>
        </p:nvSpPr>
        <p:spPr>
          <a:xfrm>
            <a:off x="320040" y="2340863"/>
            <a:ext cx="120700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320040" y="2340863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53" name="Rect 53"/>
          <p:cNvSpPr/>
          <p:nvPr/>
        </p:nvSpPr>
        <p:spPr>
          <a:xfrm>
            <a:off x="1527048" y="2340863"/>
            <a:ext cx="9326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1527048" y="2340863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9.33%</a:t>
            </a:r>
          </a:p>
        </p:txBody>
      </p:sp>
      <p:sp>
        <p:nvSpPr>
          <p:cNvPr id="55" name="Rect 55"/>
          <p:cNvSpPr/>
          <p:nvPr/>
        </p:nvSpPr>
        <p:spPr>
          <a:xfrm>
            <a:off x="2459736" y="2340863"/>
            <a:ext cx="84124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2459736" y="2340863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24.96%</a:t>
            </a:r>
          </a:p>
        </p:txBody>
      </p:sp>
      <p:sp>
        <p:nvSpPr>
          <p:cNvPr id="57" name="Rect 57"/>
          <p:cNvSpPr/>
          <p:nvPr/>
        </p:nvSpPr>
        <p:spPr>
          <a:xfrm>
            <a:off x="3300984" y="2340863"/>
            <a:ext cx="74980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 58"/>
          <p:cNvSpPr txBox="1"/>
          <p:nvPr/>
        </p:nvSpPr>
        <p:spPr>
          <a:xfrm>
            <a:off x="3300984" y="234086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0.271</a:t>
            </a:r>
          </a:p>
        </p:txBody>
      </p:sp>
      <p:sp>
        <p:nvSpPr>
          <p:cNvPr id="59" name="Rect 59"/>
          <p:cNvSpPr/>
          <p:nvPr/>
        </p:nvSpPr>
        <p:spPr>
          <a:xfrm>
            <a:off x="4050791" y="2340863"/>
            <a:ext cx="786384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4050791" y="2340863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-0.34</a:t>
            </a:r>
          </a:p>
        </p:txBody>
      </p:sp>
      <p:sp>
        <p:nvSpPr>
          <p:cNvPr id="61" name="Rect 61"/>
          <p:cNvSpPr/>
          <p:nvPr/>
        </p:nvSpPr>
        <p:spPr>
          <a:xfrm>
            <a:off x="4837176" y="2340863"/>
            <a:ext cx="786384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 62"/>
          <p:cNvSpPr txBox="1"/>
          <p:nvPr/>
        </p:nvSpPr>
        <p:spPr>
          <a:xfrm>
            <a:off x="4837176" y="2340863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1.50</a:t>
            </a:r>
          </a:p>
        </p:txBody>
      </p:sp>
      <p:sp>
        <p:nvSpPr>
          <p:cNvPr id="63" name="Rect 63"/>
          <p:cNvSpPr/>
          <p:nvPr/>
        </p:nvSpPr>
        <p:spPr>
          <a:xfrm>
            <a:off x="5623560" y="2340863"/>
            <a:ext cx="84124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5623560" y="2340863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-62.3%</a:t>
            </a:r>
          </a:p>
        </p:txBody>
      </p:sp>
      <p:sp>
        <p:nvSpPr>
          <p:cNvPr id="65" name="Rect 65"/>
          <p:cNvSpPr/>
          <p:nvPr/>
        </p:nvSpPr>
        <p:spPr>
          <a:xfrm>
            <a:off x="320040" y="2615184"/>
            <a:ext cx="120700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320040" y="2615184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67" name="Rect 67"/>
          <p:cNvSpPr/>
          <p:nvPr/>
        </p:nvSpPr>
        <p:spPr>
          <a:xfrm>
            <a:off x="1527048" y="2615184"/>
            <a:ext cx="93268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 68"/>
          <p:cNvSpPr txBox="1"/>
          <p:nvPr/>
        </p:nvSpPr>
        <p:spPr>
          <a:xfrm>
            <a:off x="1527048" y="2615184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4.27%</a:t>
            </a:r>
          </a:p>
        </p:txBody>
      </p:sp>
      <p:sp>
        <p:nvSpPr>
          <p:cNvPr id="69" name="Rect 69"/>
          <p:cNvSpPr/>
          <p:nvPr/>
        </p:nvSpPr>
        <p:spPr>
          <a:xfrm>
            <a:off x="2459736" y="2615184"/>
            <a:ext cx="84124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 70"/>
          <p:cNvSpPr txBox="1"/>
          <p:nvPr/>
        </p:nvSpPr>
        <p:spPr>
          <a:xfrm>
            <a:off x="2459736" y="261518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4.86%</a:t>
            </a:r>
          </a:p>
        </p:txBody>
      </p:sp>
      <p:sp>
        <p:nvSpPr>
          <p:cNvPr id="71" name="Rect 71"/>
          <p:cNvSpPr/>
          <p:nvPr/>
        </p:nvSpPr>
        <p:spPr>
          <a:xfrm>
            <a:off x="3300984" y="2615184"/>
            <a:ext cx="74980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 72"/>
          <p:cNvSpPr txBox="1"/>
          <p:nvPr/>
        </p:nvSpPr>
        <p:spPr>
          <a:xfrm>
            <a:off x="3300984" y="261518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0.353</a:t>
            </a:r>
          </a:p>
        </p:txBody>
      </p:sp>
      <p:sp>
        <p:nvSpPr>
          <p:cNvPr id="73" name="Rect 73"/>
          <p:cNvSpPr/>
          <p:nvPr/>
        </p:nvSpPr>
        <p:spPr>
          <a:xfrm>
            <a:off x="4050791" y="2615184"/>
            <a:ext cx="786384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 74"/>
          <p:cNvSpPr txBox="1"/>
          <p:nvPr/>
        </p:nvSpPr>
        <p:spPr>
          <a:xfrm>
            <a:off x="4050791" y="261518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0.24</a:t>
            </a:r>
          </a:p>
        </p:txBody>
      </p:sp>
      <p:sp>
        <p:nvSpPr>
          <p:cNvPr id="75" name="Rect 75"/>
          <p:cNvSpPr/>
          <p:nvPr/>
        </p:nvSpPr>
        <p:spPr>
          <a:xfrm>
            <a:off x="4837176" y="2615184"/>
            <a:ext cx="786384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4837176" y="261518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-0.21</a:t>
            </a:r>
          </a:p>
        </p:txBody>
      </p:sp>
      <p:sp>
        <p:nvSpPr>
          <p:cNvPr id="77" name="Rect 77"/>
          <p:cNvSpPr/>
          <p:nvPr/>
        </p:nvSpPr>
        <p:spPr>
          <a:xfrm>
            <a:off x="5623560" y="2615184"/>
            <a:ext cx="841248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 78"/>
          <p:cNvSpPr txBox="1"/>
          <p:nvPr/>
        </p:nvSpPr>
        <p:spPr>
          <a:xfrm>
            <a:off x="5623560" y="261518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-8.0%</a:t>
            </a:r>
          </a:p>
        </p:txBody>
      </p:sp>
      <p:sp>
        <p:nvSpPr>
          <p:cNvPr id="79" name="Rect 79"/>
          <p:cNvSpPr/>
          <p:nvPr/>
        </p:nvSpPr>
        <p:spPr>
          <a:xfrm>
            <a:off x="320040" y="2889504"/>
            <a:ext cx="120700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320040" y="2889504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81" name="Rect 81"/>
          <p:cNvSpPr/>
          <p:nvPr/>
        </p:nvSpPr>
        <p:spPr>
          <a:xfrm>
            <a:off x="1527048" y="2889504"/>
            <a:ext cx="9326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Box 82"/>
          <p:cNvSpPr txBox="1"/>
          <p:nvPr/>
        </p:nvSpPr>
        <p:spPr>
          <a:xfrm>
            <a:off x="1527048" y="2889504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5.44%</a:t>
            </a:r>
          </a:p>
        </p:txBody>
      </p:sp>
      <p:sp>
        <p:nvSpPr>
          <p:cNvPr id="83" name="Rect 83"/>
          <p:cNvSpPr/>
          <p:nvPr/>
        </p:nvSpPr>
        <p:spPr>
          <a:xfrm>
            <a:off x="2459736" y="2889504"/>
            <a:ext cx="84124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 84"/>
          <p:cNvSpPr txBox="1"/>
          <p:nvPr/>
        </p:nvSpPr>
        <p:spPr>
          <a:xfrm>
            <a:off x="2459736" y="288950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7.13%</a:t>
            </a:r>
          </a:p>
        </p:txBody>
      </p:sp>
      <p:sp>
        <p:nvSpPr>
          <p:cNvPr id="85" name="Rect 85"/>
          <p:cNvSpPr/>
          <p:nvPr/>
        </p:nvSpPr>
        <p:spPr>
          <a:xfrm>
            <a:off x="3300984" y="2889504"/>
            <a:ext cx="74980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Box 86"/>
          <p:cNvSpPr txBox="1"/>
          <p:nvPr/>
        </p:nvSpPr>
        <p:spPr>
          <a:xfrm>
            <a:off x="3300984" y="288950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0.405</a:t>
            </a:r>
          </a:p>
        </p:txBody>
      </p:sp>
      <p:sp>
        <p:nvSpPr>
          <p:cNvPr id="87" name="Rect 87"/>
          <p:cNvSpPr/>
          <p:nvPr/>
        </p:nvSpPr>
        <p:spPr>
          <a:xfrm>
            <a:off x="4050791" y="2889504"/>
            <a:ext cx="786384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 88"/>
          <p:cNvSpPr txBox="1"/>
          <p:nvPr/>
        </p:nvSpPr>
        <p:spPr>
          <a:xfrm>
            <a:off x="4050791" y="288950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-0.92</a:t>
            </a:r>
          </a:p>
        </p:txBody>
      </p:sp>
      <p:sp>
        <p:nvSpPr>
          <p:cNvPr id="89" name="Rect 89"/>
          <p:cNvSpPr/>
          <p:nvPr/>
        </p:nvSpPr>
        <p:spPr>
          <a:xfrm>
            <a:off x="4837176" y="2889504"/>
            <a:ext cx="786384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Box 90"/>
          <p:cNvSpPr txBox="1"/>
          <p:nvPr/>
        </p:nvSpPr>
        <p:spPr>
          <a:xfrm>
            <a:off x="4837176" y="288950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5.37</a:t>
            </a:r>
          </a:p>
        </p:txBody>
      </p:sp>
      <p:sp>
        <p:nvSpPr>
          <p:cNvPr id="91" name="Rect 91"/>
          <p:cNvSpPr/>
          <p:nvPr/>
        </p:nvSpPr>
        <p:spPr>
          <a:xfrm>
            <a:off x="5623560" y="2889504"/>
            <a:ext cx="841248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 92"/>
          <p:cNvSpPr txBox="1"/>
          <p:nvPr/>
        </p:nvSpPr>
        <p:spPr>
          <a:xfrm>
            <a:off x="5623560" y="288950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-13.5%</a:t>
            </a:r>
          </a:p>
        </p:txBody>
      </p:sp>
      <p:sp>
        <p:nvSpPr>
          <p:cNvPr id="93" name="Rect 93"/>
          <p:cNvSpPr/>
          <p:nvPr/>
        </p:nvSpPr>
        <p:spPr>
          <a:xfrm>
            <a:off x="320040" y="3163824"/>
            <a:ext cx="1207008" cy="27432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 94"/>
          <p:cNvSpPr txBox="1"/>
          <p:nvPr/>
        </p:nvSpPr>
        <p:spPr>
          <a:xfrm>
            <a:off x="320040" y="3163824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Eq-Wt Portfolio</a:t>
            </a:r>
          </a:p>
        </p:txBody>
      </p:sp>
      <p:sp>
        <p:nvSpPr>
          <p:cNvPr id="95" name="Rect 95"/>
          <p:cNvSpPr/>
          <p:nvPr/>
        </p:nvSpPr>
        <p:spPr>
          <a:xfrm>
            <a:off x="1527048" y="3163824"/>
            <a:ext cx="932688" cy="27432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 96"/>
          <p:cNvSpPr txBox="1"/>
          <p:nvPr/>
        </p:nvSpPr>
        <p:spPr>
          <a:xfrm>
            <a:off x="1527048" y="3163824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6.40%</a:t>
            </a:r>
          </a:p>
        </p:txBody>
      </p:sp>
      <p:sp>
        <p:nvSpPr>
          <p:cNvPr id="97" name="Rect 97"/>
          <p:cNvSpPr/>
          <p:nvPr/>
        </p:nvSpPr>
        <p:spPr>
          <a:xfrm>
            <a:off x="2459736" y="3163824"/>
            <a:ext cx="841248" cy="27432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Box 98"/>
          <p:cNvSpPr txBox="1"/>
          <p:nvPr/>
        </p:nvSpPr>
        <p:spPr>
          <a:xfrm>
            <a:off x="2459736" y="316382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8.40%</a:t>
            </a:r>
          </a:p>
        </p:txBody>
      </p:sp>
      <p:sp>
        <p:nvSpPr>
          <p:cNvPr id="99" name="Rect 99"/>
          <p:cNvSpPr/>
          <p:nvPr/>
        </p:nvSpPr>
        <p:spPr>
          <a:xfrm>
            <a:off x="3300984" y="3163824"/>
            <a:ext cx="749808" cy="27432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 100"/>
          <p:cNvSpPr txBox="1"/>
          <p:nvPr/>
        </p:nvSpPr>
        <p:spPr>
          <a:xfrm>
            <a:off x="3300984" y="316382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0.458</a:t>
            </a:r>
          </a:p>
        </p:txBody>
      </p:sp>
      <p:sp>
        <p:nvSpPr>
          <p:cNvPr id="101" name="Rect 101"/>
          <p:cNvSpPr/>
          <p:nvPr/>
        </p:nvSpPr>
        <p:spPr>
          <a:xfrm>
            <a:off x="4050791" y="3163824"/>
            <a:ext cx="786384" cy="27432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2"/>
          <p:cNvSpPr txBox="1"/>
          <p:nvPr/>
        </p:nvSpPr>
        <p:spPr>
          <a:xfrm>
            <a:off x="4050791" y="316382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--</a:t>
            </a:r>
          </a:p>
        </p:txBody>
      </p:sp>
      <p:sp>
        <p:nvSpPr>
          <p:cNvPr id="103" name="Rect 103"/>
          <p:cNvSpPr/>
          <p:nvPr/>
        </p:nvSpPr>
        <p:spPr>
          <a:xfrm>
            <a:off x="4837176" y="3163824"/>
            <a:ext cx="786384" cy="27432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4837176" y="316382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--</a:t>
            </a:r>
          </a:p>
        </p:txBody>
      </p:sp>
      <p:sp>
        <p:nvSpPr>
          <p:cNvPr id="105" name="Rect 105"/>
          <p:cNvSpPr/>
          <p:nvPr/>
        </p:nvSpPr>
        <p:spPr>
          <a:xfrm>
            <a:off x="5623560" y="3163824"/>
            <a:ext cx="841248" cy="274320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 106"/>
          <p:cNvSpPr txBox="1"/>
          <p:nvPr/>
        </p:nvSpPr>
        <p:spPr>
          <a:xfrm>
            <a:off x="5623560" y="3163824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-23.7%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726679" y="1170432"/>
            <a:ext cx="40690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FACTOR PROFILES &amp; ASSET IDENTIFICATION</a:t>
            </a:r>
          </a:p>
        </p:txBody>
      </p:sp>
      <p:sp>
        <p:nvSpPr>
          <p:cNvPr id="108" name="Rect 108"/>
          <p:cNvSpPr/>
          <p:nvPr/>
        </p:nvSpPr>
        <p:spPr>
          <a:xfrm>
            <a:off x="7726679" y="1517904"/>
            <a:ext cx="658368" cy="36576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Box 109"/>
          <p:cNvSpPr txBox="1"/>
          <p:nvPr/>
        </p:nvSpPr>
        <p:spPr>
          <a:xfrm>
            <a:off x="7726679" y="1517904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</a:t>
            </a:r>
          </a:p>
        </p:txBody>
      </p:sp>
      <p:sp>
        <p:nvSpPr>
          <p:cNvPr id="110" name="Rect 110"/>
          <p:cNvSpPr/>
          <p:nvPr/>
        </p:nvSpPr>
        <p:spPr>
          <a:xfrm>
            <a:off x="8385048" y="1517904"/>
            <a:ext cx="1225296" cy="36576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1"/>
          <p:cNvSpPr txBox="1"/>
          <p:nvPr/>
        </p:nvSpPr>
        <p:spPr>
          <a:xfrm>
            <a:off x="8385048" y="1517904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Home Factor</a:t>
            </a:r>
          </a:p>
        </p:txBody>
      </p:sp>
      <p:sp>
        <p:nvSpPr>
          <p:cNvPr id="112" name="Rect 112"/>
          <p:cNvSpPr/>
          <p:nvPr/>
        </p:nvSpPr>
        <p:spPr>
          <a:xfrm>
            <a:off x="9610344" y="1517904"/>
            <a:ext cx="1024128" cy="36576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Box 113"/>
          <p:cNvSpPr txBox="1"/>
          <p:nvPr/>
        </p:nvSpPr>
        <p:spPr>
          <a:xfrm>
            <a:off x="9610344" y="1517904"/>
            <a:ext cx="102412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Likely Class</a:t>
            </a:r>
          </a:p>
        </p:txBody>
      </p:sp>
      <p:sp>
        <p:nvSpPr>
          <p:cNvPr id="114" name="Rect 114"/>
          <p:cNvSpPr/>
          <p:nvPr/>
        </p:nvSpPr>
        <p:spPr>
          <a:xfrm>
            <a:off x="10634472" y="1517904"/>
            <a:ext cx="1161288" cy="36576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 115"/>
          <p:cNvSpPr txBox="1"/>
          <p:nvPr/>
        </p:nvSpPr>
        <p:spPr>
          <a:xfrm>
            <a:off x="10634472" y="1517904"/>
            <a:ext cx="116128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Read-through</a:t>
            </a:r>
          </a:p>
        </p:txBody>
      </p:sp>
      <p:sp>
        <p:nvSpPr>
          <p:cNvPr id="116" name="Rect 116"/>
          <p:cNvSpPr/>
          <p:nvPr/>
        </p:nvSpPr>
        <p:spPr>
          <a:xfrm>
            <a:off x="7726679" y="1883664"/>
            <a:ext cx="65836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7"/>
          <p:cNvSpPr txBox="1"/>
          <p:nvPr/>
        </p:nvSpPr>
        <p:spPr>
          <a:xfrm>
            <a:off x="7726679" y="1883664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118" name="Rect 118"/>
          <p:cNvSpPr/>
          <p:nvPr/>
        </p:nvSpPr>
        <p:spPr>
          <a:xfrm>
            <a:off x="8385048" y="1883664"/>
            <a:ext cx="1225296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Box 119"/>
          <p:cNvSpPr txBox="1"/>
          <p:nvPr/>
        </p:nvSpPr>
        <p:spPr>
          <a:xfrm>
            <a:off x="8385048" y="1883664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AGG (+0.89)</a:t>
            </a:r>
          </a:p>
        </p:txBody>
      </p:sp>
      <p:sp>
        <p:nvSpPr>
          <p:cNvPr id="120" name="Rect 120"/>
          <p:cNvSpPr/>
          <p:nvPr/>
        </p:nvSpPr>
        <p:spPr>
          <a:xfrm>
            <a:off x="9610344" y="1883664"/>
            <a:ext cx="102412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Box 121"/>
          <p:cNvSpPr txBox="1"/>
          <p:nvPr/>
        </p:nvSpPr>
        <p:spPr>
          <a:xfrm>
            <a:off x="9610344" y="1883664"/>
            <a:ext cx="102412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Core bonds</a:t>
            </a:r>
          </a:p>
        </p:txBody>
      </p:sp>
      <p:sp>
        <p:nvSpPr>
          <p:cNvPr id="122" name="Rect 122"/>
          <p:cNvSpPr/>
          <p:nvPr/>
        </p:nvSpPr>
        <p:spPr>
          <a:xfrm>
            <a:off x="10634472" y="1883664"/>
            <a:ext cx="116128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 123"/>
          <p:cNvSpPr txBox="1"/>
          <p:nvPr/>
        </p:nvSpPr>
        <p:spPr>
          <a:xfrm>
            <a:off x="10634472" y="1883664"/>
            <a:ext cx="116128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Low vol anchor</a:t>
            </a:r>
          </a:p>
        </p:txBody>
      </p:sp>
      <p:sp>
        <p:nvSpPr>
          <p:cNvPr id="124" name="Rect 124"/>
          <p:cNvSpPr/>
          <p:nvPr/>
        </p:nvSpPr>
        <p:spPr>
          <a:xfrm>
            <a:off x="7726679" y="2249424"/>
            <a:ext cx="658368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Box 125"/>
          <p:cNvSpPr txBox="1"/>
          <p:nvPr/>
        </p:nvSpPr>
        <p:spPr>
          <a:xfrm>
            <a:off x="7726679" y="2249424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126" name="Rect 126"/>
          <p:cNvSpPr/>
          <p:nvPr/>
        </p:nvSpPr>
        <p:spPr>
          <a:xfrm>
            <a:off x="8385048" y="2249424"/>
            <a:ext cx="1225296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Box 127"/>
          <p:cNvSpPr txBox="1"/>
          <p:nvPr/>
        </p:nvSpPr>
        <p:spPr>
          <a:xfrm>
            <a:off x="8385048" y="2249424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Growth (+0.94)</a:t>
            </a:r>
          </a:p>
        </p:txBody>
      </p:sp>
      <p:sp>
        <p:nvSpPr>
          <p:cNvPr id="128" name="Rect 128"/>
          <p:cNvSpPr/>
          <p:nvPr/>
        </p:nvSpPr>
        <p:spPr>
          <a:xfrm>
            <a:off x="9610344" y="2249424"/>
            <a:ext cx="1024128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Box 129"/>
          <p:cNvSpPr txBox="1"/>
          <p:nvPr/>
        </p:nvSpPr>
        <p:spPr>
          <a:xfrm>
            <a:off x="9610344" y="2249424"/>
            <a:ext cx="102412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equity</a:t>
            </a:r>
          </a:p>
        </p:txBody>
      </p:sp>
      <p:sp>
        <p:nvSpPr>
          <p:cNvPr id="130" name="Rect 130"/>
          <p:cNvSpPr/>
          <p:nvPr/>
        </p:nvSpPr>
        <p:spPr>
          <a:xfrm>
            <a:off x="10634472" y="2249424"/>
            <a:ext cx="1161288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 131"/>
          <p:cNvSpPr txBox="1"/>
          <p:nvPr/>
        </p:nvSpPr>
        <p:spPr>
          <a:xfrm>
            <a:off x="10634472" y="2249424"/>
            <a:ext cx="116128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Return engine</a:t>
            </a:r>
          </a:p>
        </p:txBody>
      </p:sp>
      <p:sp>
        <p:nvSpPr>
          <p:cNvPr id="132" name="Rect 132"/>
          <p:cNvSpPr/>
          <p:nvPr/>
        </p:nvSpPr>
        <p:spPr>
          <a:xfrm>
            <a:off x="7726679" y="2615184"/>
            <a:ext cx="65836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Box 133"/>
          <p:cNvSpPr txBox="1"/>
          <p:nvPr/>
        </p:nvSpPr>
        <p:spPr>
          <a:xfrm>
            <a:off x="7726679" y="2615184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134" name="Rect 134"/>
          <p:cNvSpPr/>
          <p:nvPr/>
        </p:nvSpPr>
        <p:spPr>
          <a:xfrm>
            <a:off x="8385048" y="2615184"/>
            <a:ext cx="1225296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5"/>
          <p:cNvSpPr txBox="1"/>
          <p:nvPr/>
        </p:nvSpPr>
        <p:spPr>
          <a:xfrm>
            <a:off x="8385048" y="2615184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Commod. (+0.71)</a:t>
            </a:r>
          </a:p>
        </p:txBody>
      </p:sp>
      <p:sp>
        <p:nvSpPr>
          <p:cNvPr id="136" name="Rect 136"/>
          <p:cNvSpPr/>
          <p:nvPr/>
        </p:nvSpPr>
        <p:spPr>
          <a:xfrm>
            <a:off x="9610344" y="2615184"/>
            <a:ext cx="102412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Box 137"/>
          <p:cNvSpPr txBox="1"/>
          <p:nvPr/>
        </p:nvSpPr>
        <p:spPr>
          <a:xfrm>
            <a:off x="9610344" y="2615184"/>
            <a:ext cx="102412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Alt / real asset</a:t>
            </a:r>
          </a:p>
        </p:txBody>
      </p:sp>
      <p:sp>
        <p:nvSpPr>
          <p:cNvPr id="138" name="Rect 138"/>
          <p:cNvSpPr/>
          <p:nvPr/>
        </p:nvSpPr>
        <p:spPr>
          <a:xfrm>
            <a:off x="10634472" y="2615184"/>
            <a:ext cx="116128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Box 139"/>
          <p:cNvSpPr txBox="1"/>
          <p:nvPr/>
        </p:nvSpPr>
        <p:spPr>
          <a:xfrm>
            <a:off x="10634472" y="2615184"/>
            <a:ext cx="116128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Largest drawdown</a:t>
            </a:r>
          </a:p>
        </p:txBody>
      </p:sp>
      <p:sp>
        <p:nvSpPr>
          <p:cNvPr id="140" name="Rect 140"/>
          <p:cNvSpPr/>
          <p:nvPr/>
        </p:nvSpPr>
        <p:spPr>
          <a:xfrm>
            <a:off x="7726679" y="2980944"/>
            <a:ext cx="658368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Box 141"/>
          <p:cNvSpPr txBox="1"/>
          <p:nvPr/>
        </p:nvSpPr>
        <p:spPr>
          <a:xfrm>
            <a:off x="7726679" y="2980944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142" name="Rect 142"/>
          <p:cNvSpPr/>
          <p:nvPr/>
        </p:nvSpPr>
        <p:spPr>
          <a:xfrm>
            <a:off x="8385048" y="2980944"/>
            <a:ext cx="1225296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Box 143"/>
          <p:cNvSpPr txBox="1"/>
          <p:nvPr/>
        </p:nvSpPr>
        <p:spPr>
          <a:xfrm>
            <a:off x="8385048" y="2980944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HF FOF Div (+0.58)</a:t>
            </a:r>
          </a:p>
        </p:txBody>
      </p:sp>
      <p:sp>
        <p:nvSpPr>
          <p:cNvPr id="144" name="Rect 144"/>
          <p:cNvSpPr/>
          <p:nvPr/>
        </p:nvSpPr>
        <p:spPr>
          <a:xfrm>
            <a:off x="9610344" y="2980944"/>
            <a:ext cx="1024128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Box 145"/>
          <p:cNvSpPr txBox="1"/>
          <p:nvPr/>
        </p:nvSpPr>
        <p:spPr>
          <a:xfrm>
            <a:off x="9610344" y="2980944"/>
            <a:ext cx="102412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Multi-asset HF</a:t>
            </a:r>
          </a:p>
        </p:txBody>
      </p:sp>
      <p:sp>
        <p:nvSpPr>
          <p:cNvPr id="146" name="Rect 146"/>
          <p:cNvSpPr/>
          <p:nvPr/>
        </p:nvSpPr>
        <p:spPr>
          <a:xfrm>
            <a:off x="10634472" y="2980944"/>
            <a:ext cx="1161288" cy="36576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Box 147"/>
          <p:cNvSpPr txBox="1"/>
          <p:nvPr/>
        </p:nvSpPr>
        <p:spPr>
          <a:xfrm>
            <a:off x="10634472" y="2980944"/>
            <a:ext cx="116128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Diversifier</a:t>
            </a:r>
          </a:p>
        </p:txBody>
      </p:sp>
      <p:sp>
        <p:nvSpPr>
          <p:cNvPr id="148" name="Rect 148"/>
          <p:cNvSpPr/>
          <p:nvPr/>
        </p:nvSpPr>
        <p:spPr>
          <a:xfrm>
            <a:off x="7726679" y="3346704"/>
            <a:ext cx="65836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Box 149"/>
          <p:cNvSpPr txBox="1"/>
          <p:nvPr/>
        </p:nvSpPr>
        <p:spPr>
          <a:xfrm>
            <a:off x="7726679" y="3346704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150" name="Rect 150"/>
          <p:cNvSpPr/>
          <p:nvPr/>
        </p:nvSpPr>
        <p:spPr>
          <a:xfrm>
            <a:off x="8385048" y="3346704"/>
            <a:ext cx="1225296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Box 151"/>
          <p:cNvSpPr txBox="1"/>
          <p:nvPr/>
        </p:nvSpPr>
        <p:spPr>
          <a:xfrm>
            <a:off x="8385048" y="3346704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TIPs (+0.97)</a:t>
            </a:r>
          </a:p>
        </p:txBody>
      </p:sp>
      <p:sp>
        <p:nvSpPr>
          <p:cNvPr id="152" name="Rect 152"/>
          <p:cNvSpPr/>
          <p:nvPr/>
        </p:nvSpPr>
        <p:spPr>
          <a:xfrm>
            <a:off x="9610344" y="3346704"/>
            <a:ext cx="102412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Box 153"/>
          <p:cNvSpPr txBox="1"/>
          <p:nvPr/>
        </p:nvSpPr>
        <p:spPr>
          <a:xfrm>
            <a:off x="9610344" y="3346704"/>
            <a:ext cx="102412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Inflation bonds</a:t>
            </a:r>
          </a:p>
        </p:txBody>
      </p:sp>
      <p:sp>
        <p:nvSpPr>
          <p:cNvPr id="154" name="Rect 154"/>
          <p:cNvSpPr/>
          <p:nvPr/>
        </p:nvSpPr>
        <p:spPr>
          <a:xfrm>
            <a:off x="10634472" y="3346704"/>
            <a:ext cx="1161288" cy="365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Box 155"/>
          <p:cNvSpPr txBox="1"/>
          <p:nvPr/>
        </p:nvSpPr>
        <p:spPr>
          <a:xfrm>
            <a:off x="10634472" y="3346704"/>
            <a:ext cx="1161288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Duration / TIPS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20040" y="3822191"/>
            <a:ext cx="54406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CORRELATION &amp; DISTRIBUTION TAKEAWAYS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320040" y="4169663"/>
            <a:ext cx="5440680" cy="1051560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 and Asset3 dominate return-seeking risk: together they explain about 87% of the equal-weight portfolio's asset TRC.</a:t>
            </a:r>
          </a:p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 has a strong TIPS identity and a fat left tail, so it is useful but not a pure cash substitute.</a:t>
            </a:r>
          </a:p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 is the cleanest defensive sleeve, while Asset 4 behaves like a multi-asset diversifier.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6080760" y="3822191"/>
            <a:ext cx="57150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IMPLICATION FOR PORTFOLIO CONSTRUCTION</a:t>
            </a:r>
          </a:p>
        </p:txBody>
      </p:sp>
      <p:sp>
        <p:nvSpPr>
          <p:cNvPr id="159" name="Rect 159"/>
          <p:cNvSpPr/>
          <p:nvPr/>
        </p:nvSpPr>
        <p:spPr>
          <a:xfrm>
            <a:off x="6080760" y="4169663"/>
            <a:ext cx="1207008" cy="40233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Box 160"/>
          <p:cNvSpPr txBox="1"/>
          <p:nvPr/>
        </p:nvSpPr>
        <p:spPr>
          <a:xfrm>
            <a:off x="6080760" y="4169663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Issue</a:t>
            </a:r>
          </a:p>
        </p:txBody>
      </p:sp>
      <p:sp>
        <p:nvSpPr>
          <p:cNvPr id="161" name="Rect 161"/>
          <p:cNvSpPr/>
          <p:nvPr/>
        </p:nvSpPr>
        <p:spPr>
          <a:xfrm>
            <a:off x="7287768" y="4169663"/>
            <a:ext cx="4507992" cy="402336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Box 162"/>
          <p:cNvSpPr txBox="1"/>
          <p:nvPr/>
        </p:nvSpPr>
        <p:spPr>
          <a:xfrm>
            <a:off x="7287768" y="4169663"/>
            <a:ext cx="4507992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Implication</a:t>
            </a:r>
          </a:p>
        </p:txBody>
      </p:sp>
      <p:sp>
        <p:nvSpPr>
          <p:cNvPr id="163" name="Rect 163"/>
          <p:cNvSpPr/>
          <p:nvPr/>
        </p:nvSpPr>
        <p:spPr>
          <a:xfrm>
            <a:off x="6080760" y="4572000"/>
            <a:ext cx="12070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Box 164"/>
          <p:cNvSpPr txBox="1"/>
          <p:nvPr/>
        </p:nvSpPr>
        <p:spPr>
          <a:xfrm>
            <a:off x="6080760" y="4572000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Return need</a:t>
            </a:r>
          </a:p>
        </p:txBody>
      </p:sp>
      <p:sp>
        <p:nvSpPr>
          <p:cNvPr id="165" name="Rect 165"/>
          <p:cNvSpPr/>
          <p:nvPr/>
        </p:nvSpPr>
        <p:spPr>
          <a:xfrm>
            <a:off x="7287768" y="4572000"/>
            <a:ext cx="45079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Box 166"/>
          <p:cNvSpPr txBox="1"/>
          <p:nvPr/>
        </p:nvSpPr>
        <p:spPr>
          <a:xfrm>
            <a:off x="7287768" y="4572000"/>
            <a:ext cx="4507992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Requires some equity/alt exposure; pure defensive portfolios fall short.</a:t>
            </a:r>
          </a:p>
        </p:txBody>
      </p:sp>
      <p:sp>
        <p:nvSpPr>
          <p:cNvPr id="167" name="Rect 167"/>
          <p:cNvSpPr/>
          <p:nvPr/>
        </p:nvSpPr>
        <p:spPr>
          <a:xfrm>
            <a:off x="6080760" y="4974336"/>
            <a:ext cx="1207008" cy="40233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Box 168"/>
          <p:cNvSpPr txBox="1"/>
          <p:nvPr/>
        </p:nvSpPr>
        <p:spPr>
          <a:xfrm>
            <a:off x="6080760" y="497433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Drawdown need</a:t>
            </a:r>
          </a:p>
        </p:txBody>
      </p:sp>
      <p:sp>
        <p:nvSpPr>
          <p:cNvPr id="169" name="Rect 169"/>
          <p:cNvSpPr/>
          <p:nvPr/>
        </p:nvSpPr>
        <p:spPr>
          <a:xfrm>
            <a:off x="7287768" y="4974336"/>
            <a:ext cx="4507992" cy="402336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Box 170"/>
          <p:cNvSpPr txBox="1"/>
          <p:nvPr/>
        </p:nvSpPr>
        <p:spPr>
          <a:xfrm>
            <a:off x="7287768" y="4974336"/>
            <a:ext cx="4507992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Requires reducing Asset3 concentration and controlling equity-factor TRC.</a:t>
            </a:r>
          </a:p>
        </p:txBody>
      </p:sp>
      <p:sp>
        <p:nvSpPr>
          <p:cNvPr id="171" name="Rect 171"/>
          <p:cNvSpPr/>
          <p:nvPr/>
        </p:nvSpPr>
        <p:spPr>
          <a:xfrm>
            <a:off x="6080760" y="5376672"/>
            <a:ext cx="1207008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Box 172"/>
          <p:cNvSpPr txBox="1"/>
          <p:nvPr/>
        </p:nvSpPr>
        <p:spPr>
          <a:xfrm>
            <a:off x="6080760" y="537667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Next step</a:t>
            </a:r>
          </a:p>
        </p:txBody>
      </p:sp>
      <p:sp>
        <p:nvSpPr>
          <p:cNvPr id="173" name="Rect 173"/>
          <p:cNvSpPr/>
          <p:nvPr/>
        </p:nvSpPr>
        <p:spPr>
          <a:xfrm>
            <a:off x="7287768" y="5376672"/>
            <a:ext cx="4507992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Box 174"/>
          <p:cNvSpPr txBox="1"/>
          <p:nvPr/>
        </p:nvSpPr>
        <p:spPr>
          <a:xfrm>
            <a:off x="7287768" y="5376672"/>
            <a:ext cx="4507992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Estimate time-varying factor loadings before applying MVO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3 — Risk Decomposition &amp; Historical Simulation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TRC · factor TRC using average filtered betas · HS 2004-2013 · current allocation goal assessment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" y="1170432"/>
            <a:ext cx="40690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 TRC — EQUAL-WEIGHT PORTFOLIO</a:t>
            </a:r>
          </a:p>
        </p:txBody>
      </p:sp>
      <p:sp>
        <p:nvSpPr>
          <p:cNvPr id="9" name="Rect 9"/>
          <p:cNvSpPr/>
          <p:nvPr/>
        </p:nvSpPr>
        <p:spPr>
          <a:xfrm>
            <a:off x="320040" y="1517904"/>
            <a:ext cx="1097280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20040" y="1517904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</a:t>
            </a:r>
          </a:p>
        </p:txBody>
      </p:sp>
      <p:sp>
        <p:nvSpPr>
          <p:cNvPr id="11" name="Rect 11"/>
          <p:cNvSpPr/>
          <p:nvPr/>
        </p:nvSpPr>
        <p:spPr>
          <a:xfrm>
            <a:off x="1417319" y="1517904"/>
            <a:ext cx="74980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17319" y="1517904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Weight</a:t>
            </a:r>
          </a:p>
        </p:txBody>
      </p:sp>
      <p:sp>
        <p:nvSpPr>
          <p:cNvPr id="13" name="Rect 13"/>
          <p:cNvSpPr/>
          <p:nvPr/>
        </p:nvSpPr>
        <p:spPr>
          <a:xfrm>
            <a:off x="2167127" y="1517904"/>
            <a:ext cx="93268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167127" y="1517904"/>
            <a:ext cx="93268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Ann. Vol</a:t>
            </a:r>
          </a:p>
        </p:txBody>
      </p:sp>
      <p:sp>
        <p:nvSpPr>
          <p:cNvPr id="15" name="Rect 15"/>
          <p:cNvSpPr/>
          <p:nvPr/>
        </p:nvSpPr>
        <p:spPr>
          <a:xfrm>
            <a:off x="3099815" y="1517904"/>
            <a:ext cx="84124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099815" y="1517904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TRC %</a:t>
            </a:r>
          </a:p>
        </p:txBody>
      </p:sp>
      <p:sp>
        <p:nvSpPr>
          <p:cNvPr id="17" name="Rect 17"/>
          <p:cNvSpPr/>
          <p:nvPr/>
        </p:nvSpPr>
        <p:spPr>
          <a:xfrm>
            <a:off x="320040" y="1819656"/>
            <a:ext cx="10972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320040" y="1819656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19" name="Rect 19"/>
          <p:cNvSpPr/>
          <p:nvPr/>
        </p:nvSpPr>
        <p:spPr>
          <a:xfrm>
            <a:off x="1417319" y="1819656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417319" y="1819656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21" name="Rect 21"/>
          <p:cNvSpPr/>
          <p:nvPr/>
        </p:nvSpPr>
        <p:spPr>
          <a:xfrm>
            <a:off x="2167127" y="1819656"/>
            <a:ext cx="93268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167127" y="1819656"/>
            <a:ext cx="93268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24.96%</a:t>
            </a:r>
          </a:p>
        </p:txBody>
      </p:sp>
      <p:sp>
        <p:nvSpPr>
          <p:cNvPr id="23" name="Rect 23"/>
          <p:cNvSpPr/>
          <p:nvPr/>
        </p:nvSpPr>
        <p:spPr>
          <a:xfrm>
            <a:off x="3099815" y="1819656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3099815" y="1819656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52.8%</a:t>
            </a:r>
          </a:p>
        </p:txBody>
      </p:sp>
      <p:sp>
        <p:nvSpPr>
          <p:cNvPr id="25" name="Rect 25"/>
          <p:cNvSpPr/>
          <p:nvPr/>
        </p:nvSpPr>
        <p:spPr>
          <a:xfrm>
            <a:off x="320040" y="2121408"/>
            <a:ext cx="109728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320040" y="2121408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27" name="Rect 27"/>
          <p:cNvSpPr/>
          <p:nvPr/>
        </p:nvSpPr>
        <p:spPr>
          <a:xfrm>
            <a:off x="1417319" y="2121408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417319" y="212140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29" name="Rect 29"/>
          <p:cNvSpPr/>
          <p:nvPr/>
        </p:nvSpPr>
        <p:spPr>
          <a:xfrm>
            <a:off x="2167127" y="2121408"/>
            <a:ext cx="93268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2167127" y="2121408"/>
            <a:ext cx="93268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18.63%</a:t>
            </a:r>
          </a:p>
        </p:txBody>
      </p:sp>
      <p:sp>
        <p:nvSpPr>
          <p:cNvPr id="31" name="Rect 31"/>
          <p:cNvSpPr/>
          <p:nvPr/>
        </p:nvSpPr>
        <p:spPr>
          <a:xfrm>
            <a:off x="3099815" y="2121408"/>
            <a:ext cx="84124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3099815" y="2121408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34.2%</a:t>
            </a:r>
          </a:p>
        </p:txBody>
      </p:sp>
      <p:sp>
        <p:nvSpPr>
          <p:cNvPr id="33" name="Rect 33"/>
          <p:cNvSpPr/>
          <p:nvPr/>
        </p:nvSpPr>
        <p:spPr>
          <a:xfrm>
            <a:off x="320040" y="2423160"/>
            <a:ext cx="10972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320040" y="2423160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35" name="Rect 35"/>
          <p:cNvSpPr/>
          <p:nvPr/>
        </p:nvSpPr>
        <p:spPr>
          <a:xfrm>
            <a:off x="1417319" y="2423160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417319" y="2423160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37" name="Rect 37"/>
          <p:cNvSpPr/>
          <p:nvPr/>
        </p:nvSpPr>
        <p:spPr>
          <a:xfrm>
            <a:off x="2167127" y="2423160"/>
            <a:ext cx="93268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2167127" y="2423160"/>
            <a:ext cx="93268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7.13%</a:t>
            </a:r>
          </a:p>
        </p:txBody>
      </p:sp>
      <p:sp>
        <p:nvSpPr>
          <p:cNvPr id="39" name="Rect 39"/>
          <p:cNvSpPr/>
          <p:nvPr/>
        </p:nvSpPr>
        <p:spPr>
          <a:xfrm>
            <a:off x="3099815" y="2423160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3099815" y="2423160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7.1%</a:t>
            </a:r>
          </a:p>
        </p:txBody>
      </p:sp>
      <p:sp>
        <p:nvSpPr>
          <p:cNvPr id="41" name="Rect 41"/>
          <p:cNvSpPr/>
          <p:nvPr/>
        </p:nvSpPr>
        <p:spPr>
          <a:xfrm>
            <a:off x="320040" y="2724912"/>
            <a:ext cx="109728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320040" y="2724912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43" name="Rect 43"/>
          <p:cNvSpPr/>
          <p:nvPr/>
        </p:nvSpPr>
        <p:spPr>
          <a:xfrm>
            <a:off x="1417319" y="2724912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417319" y="272491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45" name="Rect 45"/>
          <p:cNvSpPr/>
          <p:nvPr/>
        </p:nvSpPr>
        <p:spPr>
          <a:xfrm>
            <a:off x="2167127" y="2724912"/>
            <a:ext cx="93268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2167127" y="2724912"/>
            <a:ext cx="93268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4.86%</a:t>
            </a:r>
          </a:p>
        </p:txBody>
      </p:sp>
      <p:sp>
        <p:nvSpPr>
          <p:cNvPr id="47" name="Rect 47"/>
          <p:cNvSpPr/>
          <p:nvPr/>
        </p:nvSpPr>
        <p:spPr>
          <a:xfrm>
            <a:off x="3099815" y="2724912"/>
            <a:ext cx="84124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3099815" y="2724912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5.4%</a:t>
            </a:r>
          </a:p>
        </p:txBody>
      </p:sp>
      <p:sp>
        <p:nvSpPr>
          <p:cNvPr id="49" name="Rect 49"/>
          <p:cNvSpPr/>
          <p:nvPr/>
        </p:nvSpPr>
        <p:spPr>
          <a:xfrm>
            <a:off x="320040" y="3026664"/>
            <a:ext cx="10972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320040" y="3026664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51" name="Rect 51"/>
          <p:cNvSpPr/>
          <p:nvPr/>
        </p:nvSpPr>
        <p:spPr>
          <a:xfrm>
            <a:off x="1417319" y="3026664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1417319" y="3026664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53" name="Rect 53"/>
          <p:cNvSpPr/>
          <p:nvPr/>
        </p:nvSpPr>
        <p:spPr>
          <a:xfrm>
            <a:off x="2167127" y="3026664"/>
            <a:ext cx="93268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2167127" y="3026664"/>
            <a:ext cx="93268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2.65%</a:t>
            </a:r>
          </a:p>
        </p:txBody>
      </p:sp>
      <p:sp>
        <p:nvSpPr>
          <p:cNvPr id="55" name="Rect 55"/>
          <p:cNvSpPr/>
          <p:nvPr/>
        </p:nvSpPr>
        <p:spPr>
          <a:xfrm>
            <a:off x="3099815" y="3026664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3099815" y="3026664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0.5%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709160" y="1170432"/>
            <a:ext cx="40690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FACTOR TRC — AVG FILTERED KALMAN BETAS</a:t>
            </a:r>
          </a:p>
        </p:txBody>
      </p:sp>
      <p:sp>
        <p:nvSpPr>
          <p:cNvPr id="58" name="Rect 58"/>
          <p:cNvSpPr/>
          <p:nvPr/>
        </p:nvSpPr>
        <p:spPr>
          <a:xfrm>
            <a:off x="4709160" y="1517904"/>
            <a:ext cx="1417320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4709160" y="1517904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Factor</a:t>
            </a:r>
          </a:p>
        </p:txBody>
      </p:sp>
      <p:sp>
        <p:nvSpPr>
          <p:cNvPr id="60" name="Rect 60"/>
          <p:cNvSpPr/>
          <p:nvPr/>
        </p:nvSpPr>
        <p:spPr>
          <a:xfrm>
            <a:off x="6126480" y="1517904"/>
            <a:ext cx="987552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6126480" y="1517904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Bucket</a:t>
            </a:r>
          </a:p>
        </p:txBody>
      </p:sp>
      <p:sp>
        <p:nvSpPr>
          <p:cNvPr id="62" name="Rect 62"/>
          <p:cNvSpPr/>
          <p:nvPr/>
        </p:nvSpPr>
        <p:spPr>
          <a:xfrm>
            <a:off x="7114032" y="1517904"/>
            <a:ext cx="84124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7114032" y="1517904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Beta</a:t>
            </a:r>
          </a:p>
        </p:txBody>
      </p:sp>
      <p:sp>
        <p:nvSpPr>
          <p:cNvPr id="64" name="Rect 64"/>
          <p:cNvSpPr/>
          <p:nvPr/>
        </p:nvSpPr>
        <p:spPr>
          <a:xfrm>
            <a:off x="7955280" y="1517904"/>
            <a:ext cx="74980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7955280" y="1517904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TRC %</a:t>
            </a:r>
          </a:p>
        </p:txBody>
      </p:sp>
      <p:sp>
        <p:nvSpPr>
          <p:cNvPr id="66" name="Rect 66"/>
          <p:cNvSpPr/>
          <p:nvPr/>
        </p:nvSpPr>
        <p:spPr>
          <a:xfrm>
            <a:off x="4709160" y="1819656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4709160" y="1819656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Growth</a:t>
            </a:r>
          </a:p>
        </p:txBody>
      </p:sp>
      <p:sp>
        <p:nvSpPr>
          <p:cNvPr id="68" name="Rect 68"/>
          <p:cNvSpPr/>
          <p:nvPr/>
        </p:nvSpPr>
        <p:spPr>
          <a:xfrm>
            <a:off x="6126480" y="1819656"/>
            <a:ext cx="987552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9"/>
          <p:cNvSpPr txBox="1"/>
          <p:nvPr/>
        </p:nvSpPr>
        <p:spPr>
          <a:xfrm>
            <a:off x="6126480" y="1819656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Equity</a:t>
            </a:r>
          </a:p>
        </p:txBody>
      </p:sp>
      <p:sp>
        <p:nvSpPr>
          <p:cNvPr id="70" name="Rect 70"/>
          <p:cNvSpPr/>
          <p:nvPr/>
        </p:nvSpPr>
        <p:spPr>
          <a:xfrm>
            <a:off x="7114032" y="1819656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7114032" y="1819656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0.268</a:t>
            </a:r>
          </a:p>
        </p:txBody>
      </p:sp>
      <p:sp>
        <p:nvSpPr>
          <p:cNvPr id="72" name="Rect 72"/>
          <p:cNvSpPr/>
          <p:nvPr/>
        </p:nvSpPr>
        <p:spPr>
          <a:xfrm>
            <a:off x="7955280" y="1819656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 73"/>
          <p:cNvSpPr txBox="1"/>
          <p:nvPr/>
        </p:nvSpPr>
        <p:spPr>
          <a:xfrm>
            <a:off x="7955280" y="1819656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42.7%</a:t>
            </a:r>
          </a:p>
        </p:txBody>
      </p:sp>
      <p:sp>
        <p:nvSpPr>
          <p:cNvPr id="74" name="Rect 74"/>
          <p:cNvSpPr/>
          <p:nvPr/>
        </p:nvSpPr>
        <p:spPr>
          <a:xfrm>
            <a:off x="4709160" y="2121408"/>
            <a:ext cx="141732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5"/>
          <p:cNvSpPr txBox="1"/>
          <p:nvPr/>
        </p:nvSpPr>
        <p:spPr>
          <a:xfrm>
            <a:off x="4709160" y="2121408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Long Short HF</a:t>
            </a:r>
          </a:p>
        </p:txBody>
      </p:sp>
      <p:sp>
        <p:nvSpPr>
          <p:cNvPr id="76" name="Rect 76"/>
          <p:cNvSpPr/>
          <p:nvPr/>
        </p:nvSpPr>
        <p:spPr>
          <a:xfrm>
            <a:off x="6126480" y="2121408"/>
            <a:ext cx="987552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 77"/>
          <p:cNvSpPr txBox="1"/>
          <p:nvPr/>
        </p:nvSpPr>
        <p:spPr>
          <a:xfrm>
            <a:off x="6126480" y="2121408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Alternatives</a:t>
            </a:r>
          </a:p>
        </p:txBody>
      </p:sp>
      <p:sp>
        <p:nvSpPr>
          <p:cNvPr id="78" name="Rect 78"/>
          <p:cNvSpPr/>
          <p:nvPr/>
        </p:nvSpPr>
        <p:spPr>
          <a:xfrm>
            <a:off x="7114032" y="2121408"/>
            <a:ext cx="84124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 79"/>
          <p:cNvSpPr txBox="1"/>
          <p:nvPr/>
        </p:nvSpPr>
        <p:spPr>
          <a:xfrm>
            <a:off x="7114032" y="2121408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0.259</a:t>
            </a:r>
          </a:p>
        </p:txBody>
      </p:sp>
      <p:sp>
        <p:nvSpPr>
          <p:cNvPr id="80" name="Rect 80"/>
          <p:cNvSpPr/>
          <p:nvPr/>
        </p:nvSpPr>
        <p:spPr>
          <a:xfrm>
            <a:off x="7955280" y="2121408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7955280" y="212140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24.6%</a:t>
            </a:r>
          </a:p>
        </p:txBody>
      </p:sp>
      <p:sp>
        <p:nvSpPr>
          <p:cNvPr id="82" name="Rect 82"/>
          <p:cNvSpPr/>
          <p:nvPr/>
        </p:nvSpPr>
        <p:spPr>
          <a:xfrm>
            <a:off x="4709160" y="2423160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3"/>
          <p:cNvSpPr txBox="1"/>
          <p:nvPr/>
        </p:nvSpPr>
        <p:spPr>
          <a:xfrm>
            <a:off x="4709160" y="2423160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Commodities</a:t>
            </a:r>
          </a:p>
        </p:txBody>
      </p:sp>
      <p:sp>
        <p:nvSpPr>
          <p:cNvPr id="84" name="Rect 84"/>
          <p:cNvSpPr/>
          <p:nvPr/>
        </p:nvSpPr>
        <p:spPr>
          <a:xfrm>
            <a:off x="6126480" y="2423160"/>
            <a:ext cx="987552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 85"/>
          <p:cNvSpPr txBox="1"/>
          <p:nvPr/>
        </p:nvSpPr>
        <p:spPr>
          <a:xfrm>
            <a:off x="6126480" y="2423160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Macro</a:t>
            </a:r>
          </a:p>
        </p:txBody>
      </p:sp>
      <p:sp>
        <p:nvSpPr>
          <p:cNvPr id="86" name="Rect 86"/>
          <p:cNvSpPr/>
          <p:nvPr/>
        </p:nvSpPr>
        <p:spPr>
          <a:xfrm>
            <a:off x="7114032" y="2423160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 87"/>
          <p:cNvSpPr txBox="1"/>
          <p:nvPr/>
        </p:nvSpPr>
        <p:spPr>
          <a:xfrm>
            <a:off x="7114032" y="2423160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0.117</a:t>
            </a:r>
          </a:p>
        </p:txBody>
      </p:sp>
      <p:sp>
        <p:nvSpPr>
          <p:cNvPr id="88" name="Rect 88"/>
          <p:cNvSpPr/>
          <p:nvPr/>
        </p:nvSpPr>
        <p:spPr>
          <a:xfrm>
            <a:off x="7955280" y="2423160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89"/>
          <p:cNvSpPr txBox="1"/>
          <p:nvPr/>
        </p:nvSpPr>
        <p:spPr>
          <a:xfrm>
            <a:off x="7955280" y="2423160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19.5%</a:t>
            </a:r>
          </a:p>
        </p:txBody>
      </p:sp>
      <p:sp>
        <p:nvSpPr>
          <p:cNvPr id="90" name="Rect 90"/>
          <p:cNvSpPr/>
          <p:nvPr/>
        </p:nvSpPr>
        <p:spPr>
          <a:xfrm>
            <a:off x="4709160" y="2724912"/>
            <a:ext cx="141732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 91"/>
          <p:cNvSpPr txBox="1"/>
          <p:nvPr/>
        </p:nvSpPr>
        <p:spPr>
          <a:xfrm>
            <a:off x="4709160" y="2724912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Global AGG</a:t>
            </a:r>
          </a:p>
        </p:txBody>
      </p:sp>
      <p:sp>
        <p:nvSpPr>
          <p:cNvPr id="92" name="Rect 92"/>
          <p:cNvSpPr/>
          <p:nvPr/>
        </p:nvSpPr>
        <p:spPr>
          <a:xfrm>
            <a:off x="6126480" y="2724912"/>
            <a:ext cx="987552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 93"/>
          <p:cNvSpPr txBox="1"/>
          <p:nvPr/>
        </p:nvSpPr>
        <p:spPr>
          <a:xfrm>
            <a:off x="6126480" y="2724912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Rates</a:t>
            </a:r>
          </a:p>
        </p:txBody>
      </p:sp>
      <p:sp>
        <p:nvSpPr>
          <p:cNvPr id="94" name="Rect 94"/>
          <p:cNvSpPr/>
          <p:nvPr/>
        </p:nvSpPr>
        <p:spPr>
          <a:xfrm>
            <a:off x="7114032" y="2724912"/>
            <a:ext cx="84124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Box 95"/>
          <p:cNvSpPr txBox="1"/>
          <p:nvPr/>
        </p:nvSpPr>
        <p:spPr>
          <a:xfrm>
            <a:off x="7114032" y="2724912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0.167</a:t>
            </a:r>
          </a:p>
        </p:txBody>
      </p:sp>
      <p:sp>
        <p:nvSpPr>
          <p:cNvPr id="96" name="Rect 96"/>
          <p:cNvSpPr/>
          <p:nvPr/>
        </p:nvSpPr>
        <p:spPr>
          <a:xfrm>
            <a:off x="7955280" y="2724912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 97"/>
          <p:cNvSpPr txBox="1"/>
          <p:nvPr/>
        </p:nvSpPr>
        <p:spPr>
          <a:xfrm>
            <a:off x="7955280" y="272491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6.5%</a:t>
            </a:r>
          </a:p>
        </p:txBody>
      </p:sp>
      <p:sp>
        <p:nvSpPr>
          <p:cNvPr id="98" name="Rect 98"/>
          <p:cNvSpPr/>
          <p:nvPr/>
        </p:nvSpPr>
        <p:spPr>
          <a:xfrm>
            <a:off x="4709160" y="3026664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Box 99"/>
          <p:cNvSpPr txBox="1"/>
          <p:nvPr/>
        </p:nvSpPr>
        <p:spPr>
          <a:xfrm>
            <a:off x="4709160" y="3026664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TIPs</a:t>
            </a:r>
          </a:p>
        </p:txBody>
      </p:sp>
      <p:sp>
        <p:nvSpPr>
          <p:cNvPr id="100" name="Rect 100"/>
          <p:cNvSpPr/>
          <p:nvPr/>
        </p:nvSpPr>
        <p:spPr>
          <a:xfrm>
            <a:off x="6126480" y="3026664"/>
            <a:ext cx="987552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6126480" y="3026664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Other</a:t>
            </a:r>
          </a:p>
        </p:txBody>
      </p:sp>
      <p:sp>
        <p:nvSpPr>
          <p:cNvPr id="102" name="Rect 102"/>
          <p:cNvSpPr/>
          <p:nvPr/>
        </p:nvSpPr>
        <p:spPr>
          <a:xfrm>
            <a:off x="7114032" y="3026664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Box 103"/>
          <p:cNvSpPr txBox="1"/>
          <p:nvPr/>
        </p:nvSpPr>
        <p:spPr>
          <a:xfrm>
            <a:off x="7114032" y="3026664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0.182</a:t>
            </a:r>
          </a:p>
        </p:txBody>
      </p:sp>
      <p:sp>
        <p:nvSpPr>
          <p:cNvPr id="104" name="Rect 104"/>
          <p:cNvSpPr/>
          <p:nvPr/>
        </p:nvSpPr>
        <p:spPr>
          <a:xfrm>
            <a:off x="7955280" y="3026664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5"/>
          <p:cNvSpPr txBox="1"/>
          <p:nvPr/>
        </p:nvSpPr>
        <p:spPr>
          <a:xfrm>
            <a:off x="7955280" y="3026664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6.3%</a:t>
            </a:r>
          </a:p>
        </p:txBody>
      </p:sp>
      <p:sp>
        <p:nvSpPr>
          <p:cNvPr id="106" name="Rect 106"/>
          <p:cNvSpPr/>
          <p:nvPr/>
        </p:nvSpPr>
        <p:spPr>
          <a:xfrm>
            <a:off x="4709160" y="3328415"/>
            <a:ext cx="141732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4709160" y="3328415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HF FOF Div</a:t>
            </a:r>
          </a:p>
        </p:txBody>
      </p:sp>
      <p:sp>
        <p:nvSpPr>
          <p:cNvPr id="108" name="Rect 108"/>
          <p:cNvSpPr/>
          <p:nvPr/>
        </p:nvSpPr>
        <p:spPr>
          <a:xfrm>
            <a:off x="6126480" y="3328415"/>
            <a:ext cx="987552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Box 109"/>
          <p:cNvSpPr txBox="1"/>
          <p:nvPr/>
        </p:nvSpPr>
        <p:spPr>
          <a:xfrm>
            <a:off x="6126480" y="3328415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Alternatives</a:t>
            </a:r>
          </a:p>
        </p:txBody>
      </p:sp>
      <p:sp>
        <p:nvSpPr>
          <p:cNvPr id="110" name="Rect 110"/>
          <p:cNvSpPr/>
          <p:nvPr/>
        </p:nvSpPr>
        <p:spPr>
          <a:xfrm>
            <a:off x="7114032" y="3328415"/>
            <a:ext cx="84124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1"/>
          <p:cNvSpPr txBox="1"/>
          <p:nvPr/>
        </p:nvSpPr>
        <p:spPr>
          <a:xfrm>
            <a:off x="7114032" y="3328415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0.113</a:t>
            </a:r>
          </a:p>
        </p:txBody>
      </p:sp>
      <p:sp>
        <p:nvSpPr>
          <p:cNvPr id="112" name="Rect 112"/>
          <p:cNvSpPr/>
          <p:nvPr/>
        </p:nvSpPr>
        <p:spPr>
          <a:xfrm>
            <a:off x="7955280" y="3328415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Box 113"/>
          <p:cNvSpPr txBox="1"/>
          <p:nvPr/>
        </p:nvSpPr>
        <p:spPr>
          <a:xfrm>
            <a:off x="7955280" y="3328415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5.8%</a:t>
            </a:r>
          </a:p>
        </p:txBody>
      </p:sp>
      <p:sp>
        <p:nvSpPr>
          <p:cNvPr id="114" name="Rect 114"/>
          <p:cNvSpPr/>
          <p:nvPr/>
        </p:nvSpPr>
        <p:spPr>
          <a:xfrm>
            <a:off x="4709160" y="3630168"/>
            <a:ext cx="14173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 115"/>
          <p:cNvSpPr txBox="1"/>
          <p:nvPr/>
        </p:nvSpPr>
        <p:spPr>
          <a:xfrm>
            <a:off x="4709160" y="3630168"/>
            <a:ext cx="141732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AGG</a:t>
            </a:r>
          </a:p>
        </p:txBody>
      </p:sp>
      <p:sp>
        <p:nvSpPr>
          <p:cNvPr id="116" name="Rect 116"/>
          <p:cNvSpPr/>
          <p:nvPr/>
        </p:nvSpPr>
        <p:spPr>
          <a:xfrm>
            <a:off x="6126480" y="3630168"/>
            <a:ext cx="987552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7"/>
          <p:cNvSpPr txBox="1"/>
          <p:nvPr/>
        </p:nvSpPr>
        <p:spPr>
          <a:xfrm>
            <a:off x="6126480" y="3630168"/>
            <a:ext cx="987552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Rates</a:t>
            </a:r>
          </a:p>
        </p:txBody>
      </p:sp>
      <p:sp>
        <p:nvSpPr>
          <p:cNvPr id="118" name="Rect 118"/>
          <p:cNvSpPr/>
          <p:nvPr/>
        </p:nvSpPr>
        <p:spPr>
          <a:xfrm>
            <a:off x="7114032" y="3630168"/>
            <a:ext cx="84124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Box 119"/>
          <p:cNvSpPr txBox="1"/>
          <p:nvPr/>
        </p:nvSpPr>
        <p:spPr>
          <a:xfrm>
            <a:off x="7114032" y="3630168"/>
            <a:ext cx="84124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0.146</a:t>
            </a:r>
          </a:p>
        </p:txBody>
      </p:sp>
      <p:sp>
        <p:nvSpPr>
          <p:cNvPr id="120" name="Rect 120"/>
          <p:cNvSpPr/>
          <p:nvPr/>
        </p:nvSpPr>
        <p:spPr>
          <a:xfrm>
            <a:off x="7955280" y="3630168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Box 121"/>
          <p:cNvSpPr txBox="1"/>
          <p:nvPr/>
        </p:nvSpPr>
        <p:spPr>
          <a:xfrm>
            <a:off x="7955280" y="363016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1.5%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9098280" y="1170432"/>
            <a:ext cx="26974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CURRENT HS RESULTS</a:t>
            </a:r>
          </a:p>
        </p:txBody>
      </p:sp>
      <p:sp>
        <p:nvSpPr>
          <p:cNvPr id="123" name="Rect 123"/>
          <p:cNvSpPr/>
          <p:nvPr/>
        </p:nvSpPr>
        <p:spPr>
          <a:xfrm>
            <a:off x="9098280" y="1517904"/>
            <a:ext cx="1234440" cy="685800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Box 124"/>
          <p:cNvSpPr txBox="1"/>
          <p:nvPr/>
        </p:nvSpPr>
        <p:spPr>
          <a:xfrm>
            <a:off x="9171432" y="1572768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End Wealth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9171432" y="1819656"/>
            <a:ext cx="1088136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1.83x</a:t>
            </a:r>
          </a:p>
        </p:txBody>
      </p:sp>
      <p:sp>
        <p:nvSpPr>
          <p:cNvPr id="126" name="Rect 126"/>
          <p:cNvSpPr/>
          <p:nvPr/>
        </p:nvSpPr>
        <p:spPr>
          <a:xfrm>
            <a:off x="10561320" y="1517904"/>
            <a:ext cx="1234440" cy="685800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Box 127"/>
          <p:cNvSpPr txBox="1"/>
          <p:nvPr/>
        </p:nvSpPr>
        <p:spPr>
          <a:xfrm>
            <a:off x="10634472" y="1572768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Ann. Ret.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0634472" y="1819656"/>
            <a:ext cx="1088136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6.40%</a:t>
            </a:r>
          </a:p>
        </p:txBody>
      </p:sp>
      <p:sp>
        <p:nvSpPr>
          <p:cNvPr id="129" name="Rect 129"/>
          <p:cNvSpPr/>
          <p:nvPr/>
        </p:nvSpPr>
        <p:spPr>
          <a:xfrm>
            <a:off x="9098280" y="2331720"/>
            <a:ext cx="1234440" cy="685800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Box 130"/>
          <p:cNvSpPr txBox="1"/>
          <p:nvPr/>
        </p:nvSpPr>
        <p:spPr>
          <a:xfrm>
            <a:off x="9171432" y="2386584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Ann. Vol.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171432" y="2633472"/>
            <a:ext cx="1088136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8.40%</a:t>
            </a:r>
          </a:p>
        </p:txBody>
      </p:sp>
      <p:sp>
        <p:nvSpPr>
          <p:cNvPr id="132" name="Rect 132"/>
          <p:cNvSpPr/>
          <p:nvPr/>
        </p:nvSpPr>
        <p:spPr>
          <a:xfrm>
            <a:off x="10561320" y="2331720"/>
            <a:ext cx="1234440" cy="685800"/>
          </a:xfrm>
          <a:prstGeom prst="rect">
            <a:avLst/>
          </a:prstGeom>
          <a:solidFill>
            <a:srgbClr val="F4CCCC"/>
          </a:solidFill>
          <a:ln>
            <a:solidFill>
              <a:srgbClr val="E1E1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Box 133"/>
          <p:cNvSpPr txBox="1"/>
          <p:nvPr/>
        </p:nvSpPr>
        <p:spPr>
          <a:xfrm>
            <a:off x="10634472" y="2386584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 b="1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Worst DD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634472" y="2633472"/>
            <a:ext cx="1088136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7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-37.0%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9098280" y="3200400"/>
            <a:ext cx="2697480" cy="749808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Current portfolio passes the return goal but fails the client's drawdown limit.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20040" y="4224528"/>
            <a:ext cx="70866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LONG-ONLY ENUMERATION DIAGNOSTIC</a:t>
            </a:r>
          </a:p>
        </p:txBody>
      </p:sp>
      <p:sp>
        <p:nvSpPr>
          <p:cNvPr id="137" name="Rect 137"/>
          <p:cNvSpPr/>
          <p:nvPr/>
        </p:nvSpPr>
        <p:spPr>
          <a:xfrm>
            <a:off x="320040" y="4572000"/>
            <a:ext cx="621792" cy="29260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Box 138"/>
          <p:cNvSpPr txBox="1"/>
          <p:nvPr/>
        </p:nvSpPr>
        <p:spPr>
          <a:xfrm>
            <a:off x="320040" y="4572000"/>
            <a:ext cx="6217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Cap</a:t>
            </a:r>
          </a:p>
        </p:txBody>
      </p:sp>
      <p:sp>
        <p:nvSpPr>
          <p:cNvPr id="139" name="Rect 139"/>
          <p:cNvSpPr/>
          <p:nvPr/>
        </p:nvSpPr>
        <p:spPr>
          <a:xfrm>
            <a:off x="941832" y="4572000"/>
            <a:ext cx="960120" cy="29260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Box 140"/>
          <p:cNvSpPr txBox="1"/>
          <p:nvPr/>
        </p:nvSpPr>
        <p:spPr>
          <a:xfrm>
            <a:off x="941832" y="457200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Tested</a:t>
            </a:r>
          </a:p>
        </p:txBody>
      </p:sp>
      <p:sp>
        <p:nvSpPr>
          <p:cNvPr id="141" name="Rect 141"/>
          <p:cNvSpPr/>
          <p:nvPr/>
        </p:nvSpPr>
        <p:spPr>
          <a:xfrm>
            <a:off x="1901952" y="4572000"/>
            <a:ext cx="960120" cy="29260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 142"/>
          <p:cNvSpPr txBox="1"/>
          <p:nvPr/>
        </p:nvSpPr>
        <p:spPr>
          <a:xfrm>
            <a:off x="1901952" y="457200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DD-Safe</a:t>
            </a:r>
          </a:p>
        </p:txBody>
      </p:sp>
      <p:sp>
        <p:nvSpPr>
          <p:cNvPr id="143" name="Rect 143"/>
          <p:cNvSpPr/>
          <p:nvPr/>
        </p:nvSpPr>
        <p:spPr>
          <a:xfrm>
            <a:off x="2862072" y="4572000"/>
            <a:ext cx="1078992" cy="29260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Box 144"/>
          <p:cNvSpPr txBox="1"/>
          <p:nvPr/>
        </p:nvSpPr>
        <p:spPr>
          <a:xfrm>
            <a:off x="2862072" y="457200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Ret &gt;= Req.</a:t>
            </a:r>
          </a:p>
        </p:txBody>
      </p:sp>
      <p:sp>
        <p:nvSpPr>
          <p:cNvPr id="145" name="Rect 145"/>
          <p:cNvSpPr/>
          <p:nvPr/>
        </p:nvSpPr>
        <p:spPr>
          <a:xfrm>
            <a:off x="3941063" y="4572000"/>
            <a:ext cx="640080" cy="29260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Box 146"/>
          <p:cNvSpPr txBox="1"/>
          <p:nvPr/>
        </p:nvSpPr>
        <p:spPr>
          <a:xfrm>
            <a:off x="3941063" y="4572000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Both</a:t>
            </a:r>
          </a:p>
        </p:txBody>
      </p:sp>
      <p:sp>
        <p:nvSpPr>
          <p:cNvPr id="147" name="Rect 147"/>
          <p:cNvSpPr/>
          <p:nvPr/>
        </p:nvSpPr>
        <p:spPr>
          <a:xfrm>
            <a:off x="4581144" y="4572000"/>
            <a:ext cx="1078992" cy="29260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Box 148"/>
          <p:cNvSpPr txBox="1"/>
          <p:nvPr/>
        </p:nvSpPr>
        <p:spPr>
          <a:xfrm>
            <a:off x="4581144" y="457200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Best Safe Ret.</a:t>
            </a:r>
          </a:p>
        </p:txBody>
      </p:sp>
      <p:sp>
        <p:nvSpPr>
          <p:cNvPr id="149" name="Rect 149"/>
          <p:cNvSpPr/>
          <p:nvPr/>
        </p:nvSpPr>
        <p:spPr>
          <a:xfrm>
            <a:off x="320040" y="4864608"/>
            <a:ext cx="6217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Box 150"/>
          <p:cNvSpPr txBox="1"/>
          <p:nvPr/>
        </p:nvSpPr>
        <p:spPr>
          <a:xfrm>
            <a:off x="320040" y="4864608"/>
            <a:ext cx="6217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30%</a:t>
            </a:r>
          </a:p>
        </p:txBody>
      </p:sp>
      <p:sp>
        <p:nvSpPr>
          <p:cNvPr id="151" name="Rect 151"/>
          <p:cNvSpPr/>
          <p:nvPr/>
        </p:nvSpPr>
        <p:spPr>
          <a:xfrm>
            <a:off x="941832" y="48646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Box 152"/>
          <p:cNvSpPr txBox="1"/>
          <p:nvPr/>
        </p:nvSpPr>
        <p:spPr>
          <a:xfrm>
            <a:off x="941832" y="486460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826</a:t>
            </a:r>
          </a:p>
        </p:txBody>
      </p:sp>
      <p:sp>
        <p:nvSpPr>
          <p:cNvPr id="153" name="Rect 153"/>
          <p:cNvSpPr/>
          <p:nvPr/>
        </p:nvSpPr>
        <p:spPr>
          <a:xfrm>
            <a:off x="1901952" y="48646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Box 154"/>
          <p:cNvSpPr txBox="1"/>
          <p:nvPr/>
        </p:nvSpPr>
        <p:spPr>
          <a:xfrm>
            <a:off x="1901952" y="486460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55" name="Rect 155"/>
          <p:cNvSpPr/>
          <p:nvPr/>
        </p:nvSpPr>
        <p:spPr>
          <a:xfrm>
            <a:off x="2862072" y="4864608"/>
            <a:ext cx="10789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Box 156"/>
          <p:cNvSpPr txBox="1"/>
          <p:nvPr/>
        </p:nvSpPr>
        <p:spPr>
          <a:xfrm>
            <a:off x="2862072" y="48646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569</a:t>
            </a:r>
          </a:p>
        </p:txBody>
      </p:sp>
      <p:sp>
        <p:nvSpPr>
          <p:cNvPr id="157" name="Rect 157"/>
          <p:cNvSpPr/>
          <p:nvPr/>
        </p:nvSpPr>
        <p:spPr>
          <a:xfrm>
            <a:off x="3941063" y="4864608"/>
            <a:ext cx="6400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Box 158"/>
          <p:cNvSpPr txBox="1"/>
          <p:nvPr/>
        </p:nvSpPr>
        <p:spPr>
          <a:xfrm>
            <a:off x="3941063" y="4864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59" name="Rect 159"/>
          <p:cNvSpPr/>
          <p:nvPr/>
        </p:nvSpPr>
        <p:spPr>
          <a:xfrm>
            <a:off x="4581144" y="4864608"/>
            <a:ext cx="10789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Box 160"/>
          <p:cNvSpPr txBox="1"/>
          <p:nvPr/>
        </p:nvSpPr>
        <p:spPr>
          <a:xfrm>
            <a:off x="4581144" y="4864608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5.48%</a:t>
            </a:r>
          </a:p>
        </p:txBody>
      </p:sp>
      <p:sp>
        <p:nvSpPr>
          <p:cNvPr id="161" name="Rect 161"/>
          <p:cNvSpPr/>
          <p:nvPr/>
        </p:nvSpPr>
        <p:spPr>
          <a:xfrm>
            <a:off x="320040" y="5157216"/>
            <a:ext cx="621792" cy="29260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Box 162"/>
          <p:cNvSpPr txBox="1"/>
          <p:nvPr/>
        </p:nvSpPr>
        <p:spPr>
          <a:xfrm>
            <a:off x="320040" y="5157216"/>
            <a:ext cx="6217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35%</a:t>
            </a:r>
          </a:p>
        </p:txBody>
      </p:sp>
      <p:sp>
        <p:nvSpPr>
          <p:cNvPr id="163" name="Rect 163"/>
          <p:cNvSpPr/>
          <p:nvPr/>
        </p:nvSpPr>
        <p:spPr>
          <a:xfrm>
            <a:off x="941832" y="5157216"/>
            <a:ext cx="960120" cy="29260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Box 164"/>
          <p:cNvSpPr txBox="1"/>
          <p:nvPr/>
        </p:nvSpPr>
        <p:spPr>
          <a:xfrm>
            <a:off x="941832" y="5157216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2,226</a:t>
            </a:r>
          </a:p>
        </p:txBody>
      </p:sp>
      <p:sp>
        <p:nvSpPr>
          <p:cNvPr id="165" name="Rect 165"/>
          <p:cNvSpPr/>
          <p:nvPr/>
        </p:nvSpPr>
        <p:spPr>
          <a:xfrm>
            <a:off x="1901952" y="5157216"/>
            <a:ext cx="960120" cy="29260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Box 166"/>
          <p:cNvSpPr txBox="1"/>
          <p:nvPr/>
        </p:nvSpPr>
        <p:spPr>
          <a:xfrm>
            <a:off x="1901952" y="5157216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78</a:t>
            </a:r>
          </a:p>
        </p:txBody>
      </p:sp>
      <p:sp>
        <p:nvSpPr>
          <p:cNvPr id="167" name="Rect 167"/>
          <p:cNvSpPr/>
          <p:nvPr/>
        </p:nvSpPr>
        <p:spPr>
          <a:xfrm>
            <a:off x="2862072" y="5157216"/>
            <a:ext cx="1078992" cy="29260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Box 168"/>
          <p:cNvSpPr txBox="1"/>
          <p:nvPr/>
        </p:nvSpPr>
        <p:spPr>
          <a:xfrm>
            <a:off x="2862072" y="5157216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1,445</a:t>
            </a:r>
          </a:p>
        </p:txBody>
      </p:sp>
      <p:sp>
        <p:nvSpPr>
          <p:cNvPr id="169" name="Rect 169"/>
          <p:cNvSpPr/>
          <p:nvPr/>
        </p:nvSpPr>
        <p:spPr>
          <a:xfrm>
            <a:off x="3941063" y="5157216"/>
            <a:ext cx="640080" cy="29260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Box 170"/>
          <p:cNvSpPr txBox="1"/>
          <p:nvPr/>
        </p:nvSpPr>
        <p:spPr>
          <a:xfrm>
            <a:off x="3941063" y="5157216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71" name="Rect 171"/>
          <p:cNvSpPr/>
          <p:nvPr/>
        </p:nvSpPr>
        <p:spPr>
          <a:xfrm>
            <a:off x="4581144" y="5157216"/>
            <a:ext cx="1078992" cy="29260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Box 172"/>
          <p:cNvSpPr txBox="1"/>
          <p:nvPr/>
        </p:nvSpPr>
        <p:spPr>
          <a:xfrm>
            <a:off x="4581144" y="5157216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5.56%</a:t>
            </a:r>
          </a:p>
        </p:txBody>
      </p:sp>
      <p:sp>
        <p:nvSpPr>
          <p:cNvPr id="173" name="Rect 173"/>
          <p:cNvSpPr/>
          <p:nvPr/>
        </p:nvSpPr>
        <p:spPr>
          <a:xfrm>
            <a:off x="320040" y="5449824"/>
            <a:ext cx="6217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Box 174"/>
          <p:cNvSpPr txBox="1"/>
          <p:nvPr/>
        </p:nvSpPr>
        <p:spPr>
          <a:xfrm>
            <a:off x="320040" y="5449824"/>
            <a:ext cx="6217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50%</a:t>
            </a:r>
          </a:p>
        </p:txBody>
      </p:sp>
      <p:sp>
        <p:nvSpPr>
          <p:cNvPr id="175" name="Rect 175"/>
          <p:cNvSpPr/>
          <p:nvPr/>
        </p:nvSpPr>
        <p:spPr>
          <a:xfrm>
            <a:off x="941832" y="54498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Box 176"/>
          <p:cNvSpPr txBox="1"/>
          <p:nvPr/>
        </p:nvSpPr>
        <p:spPr>
          <a:xfrm>
            <a:off x="941832" y="5449824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7,051</a:t>
            </a:r>
          </a:p>
        </p:txBody>
      </p:sp>
      <p:sp>
        <p:nvSpPr>
          <p:cNvPr id="177" name="Rect 177"/>
          <p:cNvSpPr/>
          <p:nvPr/>
        </p:nvSpPr>
        <p:spPr>
          <a:xfrm>
            <a:off x="1901952" y="54498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Box 178"/>
          <p:cNvSpPr txBox="1"/>
          <p:nvPr/>
        </p:nvSpPr>
        <p:spPr>
          <a:xfrm>
            <a:off x="1901952" y="5449824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627</a:t>
            </a:r>
          </a:p>
        </p:txBody>
      </p:sp>
      <p:sp>
        <p:nvSpPr>
          <p:cNvPr id="179" name="Rect 179"/>
          <p:cNvSpPr/>
          <p:nvPr/>
        </p:nvSpPr>
        <p:spPr>
          <a:xfrm>
            <a:off x="2862072" y="5449824"/>
            <a:ext cx="10789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Box 180"/>
          <p:cNvSpPr txBox="1"/>
          <p:nvPr/>
        </p:nvSpPr>
        <p:spPr>
          <a:xfrm>
            <a:off x="2862072" y="5449824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4,241</a:t>
            </a:r>
          </a:p>
        </p:txBody>
      </p:sp>
      <p:sp>
        <p:nvSpPr>
          <p:cNvPr id="181" name="Rect 181"/>
          <p:cNvSpPr/>
          <p:nvPr/>
        </p:nvSpPr>
        <p:spPr>
          <a:xfrm>
            <a:off x="3941063" y="5449824"/>
            <a:ext cx="6400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Box 182"/>
          <p:cNvSpPr txBox="1"/>
          <p:nvPr/>
        </p:nvSpPr>
        <p:spPr>
          <a:xfrm>
            <a:off x="3941063" y="544982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83" name="Rect 183"/>
          <p:cNvSpPr/>
          <p:nvPr/>
        </p:nvSpPr>
        <p:spPr>
          <a:xfrm>
            <a:off x="4581144" y="5449824"/>
            <a:ext cx="10789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Box 184"/>
          <p:cNvSpPr txBox="1"/>
          <p:nvPr/>
        </p:nvSpPr>
        <p:spPr>
          <a:xfrm>
            <a:off x="4581144" y="5449824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5.65%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7726679" y="4315968"/>
            <a:ext cx="4069080" cy="1097280"/>
          </a:xfrm>
          <a:prstGeom prst="rect">
            <a:avLst/>
          </a:prstGeom>
          <a:solidFill>
            <a:srgbClr val="EBF8FF"/>
          </a:solidFill>
          <a:ln>
            <a:solidFill>
              <a:srgbClr val="A0AEC0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Interpretation: long-only capped searches can reduce drawdown, but none reached both the 6.02% wealth-return requirement and the 99% drawdown-safety mandate. This motivates comparing factor-constrained MVO with a client-feasible relaxed MVO.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7726679" y="5596128"/>
            <a:ext cx="4069080" cy="384048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9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Factor TRC sums to 100.0%; asset TRC sums to 100.0%.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136" y="14630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3B — How We Estimated Factor Loadings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Time-varying factor model · filtered betas · no smoothed look-ahead · inputs to Page 3 and Page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3B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" y="1170432"/>
            <a:ext cx="365760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1. SELECT FACTORS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" y="1517904"/>
            <a:ext cx="3657600" cy="987552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For each asset, choose exactly five factors:</a:t>
            </a:r>
          </a:p>
          <a:p>
            <a:pPr algn="l"/>
            <a:r>
              <a:rPr lang="en-US" sz="10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Home factor = highest absolute correlation.</a:t>
            </a:r>
          </a:p>
          <a:p>
            <a:pPr algn="l"/>
            <a:r>
              <a:rPr lang="en-US" sz="10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Cross-risk factors = strongest factor from each remaining risk bucket.</a:t>
            </a:r>
          </a:p>
        </p:txBody>
      </p:sp>
      <p:sp>
        <p:nvSpPr>
          <p:cNvPr id="10" name="Rect 10"/>
          <p:cNvSpPr/>
          <p:nvPr/>
        </p:nvSpPr>
        <p:spPr>
          <a:xfrm>
            <a:off x="320040" y="2706624"/>
            <a:ext cx="73152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20040" y="270662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</a:t>
            </a:r>
          </a:p>
        </p:txBody>
      </p:sp>
      <p:sp>
        <p:nvSpPr>
          <p:cNvPr id="12" name="Rect 12"/>
          <p:cNvSpPr/>
          <p:nvPr/>
        </p:nvSpPr>
        <p:spPr>
          <a:xfrm>
            <a:off x="1051560" y="2706624"/>
            <a:ext cx="137160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51560" y="27066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Home Factor</a:t>
            </a:r>
          </a:p>
        </p:txBody>
      </p:sp>
      <p:sp>
        <p:nvSpPr>
          <p:cNvPr id="14" name="Rect 14"/>
          <p:cNvSpPr/>
          <p:nvPr/>
        </p:nvSpPr>
        <p:spPr>
          <a:xfrm>
            <a:off x="2423160" y="2706624"/>
            <a:ext cx="100584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423160" y="270662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Bucket</a:t>
            </a:r>
          </a:p>
        </p:txBody>
      </p:sp>
      <p:sp>
        <p:nvSpPr>
          <p:cNvPr id="16" name="Rect 16"/>
          <p:cNvSpPr/>
          <p:nvPr/>
        </p:nvSpPr>
        <p:spPr>
          <a:xfrm>
            <a:off x="320040" y="2980944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320040" y="298094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18" name="Rect 18"/>
          <p:cNvSpPr/>
          <p:nvPr/>
        </p:nvSpPr>
        <p:spPr>
          <a:xfrm>
            <a:off x="1051560" y="2980944"/>
            <a:ext cx="13716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51560" y="29809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AGG</a:t>
            </a:r>
          </a:p>
        </p:txBody>
      </p:sp>
      <p:sp>
        <p:nvSpPr>
          <p:cNvPr id="20" name="Rect 20"/>
          <p:cNvSpPr/>
          <p:nvPr/>
        </p:nvSpPr>
        <p:spPr>
          <a:xfrm>
            <a:off x="2423160" y="2980944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423160" y="298094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Rates</a:t>
            </a:r>
          </a:p>
        </p:txBody>
      </p:sp>
      <p:sp>
        <p:nvSpPr>
          <p:cNvPr id="22" name="Rect 22"/>
          <p:cNvSpPr/>
          <p:nvPr/>
        </p:nvSpPr>
        <p:spPr>
          <a:xfrm>
            <a:off x="320040" y="3255264"/>
            <a:ext cx="73152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20040" y="325526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24" name="Rect 24"/>
          <p:cNvSpPr/>
          <p:nvPr/>
        </p:nvSpPr>
        <p:spPr>
          <a:xfrm>
            <a:off x="1051560" y="3255264"/>
            <a:ext cx="13716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51560" y="32552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Growth</a:t>
            </a:r>
          </a:p>
        </p:txBody>
      </p:sp>
      <p:sp>
        <p:nvSpPr>
          <p:cNvPr id="26" name="Rect 26"/>
          <p:cNvSpPr/>
          <p:nvPr/>
        </p:nvSpPr>
        <p:spPr>
          <a:xfrm>
            <a:off x="2423160" y="3255264"/>
            <a:ext cx="100584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423160" y="32552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Equity</a:t>
            </a:r>
          </a:p>
        </p:txBody>
      </p:sp>
      <p:sp>
        <p:nvSpPr>
          <p:cNvPr id="28" name="Rect 28"/>
          <p:cNvSpPr/>
          <p:nvPr/>
        </p:nvSpPr>
        <p:spPr>
          <a:xfrm>
            <a:off x="320040" y="3529584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320040" y="352958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30" name="Rect 30"/>
          <p:cNvSpPr/>
          <p:nvPr/>
        </p:nvSpPr>
        <p:spPr>
          <a:xfrm>
            <a:off x="1051560" y="3529584"/>
            <a:ext cx="13716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051560" y="352958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Commodities</a:t>
            </a:r>
          </a:p>
        </p:txBody>
      </p:sp>
      <p:sp>
        <p:nvSpPr>
          <p:cNvPr id="32" name="Rect 32"/>
          <p:cNvSpPr/>
          <p:nvPr/>
        </p:nvSpPr>
        <p:spPr>
          <a:xfrm>
            <a:off x="2423160" y="3529584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2423160" y="35295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Macro</a:t>
            </a:r>
          </a:p>
        </p:txBody>
      </p:sp>
      <p:sp>
        <p:nvSpPr>
          <p:cNvPr id="34" name="Rect 34"/>
          <p:cNvSpPr/>
          <p:nvPr/>
        </p:nvSpPr>
        <p:spPr>
          <a:xfrm>
            <a:off x="320040" y="3803904"/>
            <a:ext cx="73152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320040" y="380390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36" name="Rect 36"/>
          <p:cNvSpPr/>
          <p:nvPr/>
        </p:nvSpPr>
        <p:spPr>
          <a:xfrm>
            <a:off x="1051560" y="3803904"/>
            <a:ext cx="13716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051560" y="38039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HF FOF Div</a:t>
            </a:r>
          </a:p>
        </p:txBody>
      </p:sp>
      <p:sp>
        <p:nvSpPr>
          <p:cNvPr id="38" name="Rect 38"/>
          <p:cNvSpPr/>
          <p:nvPr/>
        </p:nvSpPr>
        <p:spPr>
          <a:xfrm>
            <a:off x="2423160" y="3803904"/>
            <a:ext cx="100584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2423160" y="380390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Alternatives</a:t>
            </a:r>
          </a:p>
        </p:txBody>
      </p:sp>
      <p:sp>
        <p:nvSpPr>
          <p:cNvPr id="40" name="Rect 40"/>
          <p:cNvSpPr/>
          <p:nvPr/>
        </p:nvSpPr>
        <p:spPr>
          <a:xfrm>
            <a:off x="320040" y="4078224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320040" y="407822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42" name="Rect 42"/>
          <p:cNvSpPr/>
          <p:nvPr/>
        </p:nvSpPr>
        <p:spPr>
          <a:xfrm>
            <a:off x="1051560" y="4078224"/>
            <a:ext cx="13716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1051560" y="40782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TIPs</a:t>
            </a:r>
          </a:p>
        </p:txBody>
      </p:sp>
      <p:sp>
        <p:nvSpPr>
          <p:cNvPr id="44" name="Rect 44"/>
          <p:cNvSpPr/>
          <p:nvPr/>
        </p:nvSpPr>
        <p:spPr>
          <a:xfrm>
            <a:off x="2423160" y="4078224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2423160" y="407822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Other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43400" y="1170432"/>
            <a:ext cx="36118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 FIT KALMAN MODEL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43400" y="1517904"/>
            <a:ext cx="3611880" cy="1225296"/>
          </a:xfrm>
          <a:prstGeom prst="rect">
            <a:avLst/>
          </a:prstGeom>
          <a:solidFill>
            <a:srgbClr val="EBF8FF"/>
          </a:solidFill>
          <a:ln>
            <a:solidFill>
              <a:srgbClr val="A0AEC0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4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Observation:</a:t>
            </a:r>
          </a:p>
          <a:p>
            <a:pPr algn="l"/>
            <a:r>
              <a:rPr lang="en-US" sz="1400" b="1" dirty="0" err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r_t</a:t>
            </a:r>
            <a:r>
              <a:rPr lang="en-US" sz="14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 = </a:t>
            </a:r>
            <a:r>
              <a:rPr lang="en-US" sz="1400" b="1" dirty="0" err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F_t</a:t>
            </a:r>
            <a:r>
              <a:rPr lang="en-US" sz="14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' </a:t>
            </a:r>
            <a:r>
              <a:rPr lang="en-US" sz="1400" b="1" dirty="0" err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beta_t</a:t>
            </a:r>
            <a:r>
              <a:rPr lang="en-US" sz="14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 + </a:t>
            </a:r>
            <a:r>
              <a:rPr lang="en-US" sz="1400" b="1" dirty="0" err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eps_t</a:t>
            </a:r>
            <a:endParaRPr lang="en-US" sz="1400" b="1" dirty="0">
              <a:solidFill>
                <a:srgbClr val="1A1A2E"/>
              </a:solidFill>
              <a:latin typeface="Georgia"/>
              <a:ea typeface="Georgia"/>
              <a:cs typeface="Georgia"/>
            </a:endParaRPr>
          </a:p>
          <a:p>
            <a:pPr algn="l"/>
            <a:endParaRPr lang="en-US" sz="1400" b="1" dirty="0">
              <a:solidFill>
                <a:srgbClr val="1A1A2E"/>
              </a:solidFill>
              <a:latin typeface="Georgia"/>
              <a:ea typeface="Georgia"/>
              <a:cs typeface="Georgia"/>
            </a:endParaRPr>
          </a:p>
          <a:p>
            <a:pPr algn="l"/>
            <a:r>
              <a:rPr lang="en-US" sz="14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State update:</a:t>
            </a:r>
          </a:p>
          <a:p>
            <a:pPr algn="l"/>
            <a:r>
              <a:rPr lang="en-US" sz="1400" b="1" dirty="0" err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beta_t</a:t>
            </a:r>
            <a:r>
              <a:rPr lang="en-US" sz="14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 = beta_{t-1} + </a:t>
            </a:r>
            <a:r>
              <a:rPr lang="en-US" sz="1400" b="1" dirty="0" err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eta_t</a:t>
            </a:r>
            <a:endParaRPr lang="en-US" sz="1400" b="1" dirty="0">
              <a:solidFill>
                <a:srgbClr val="1A1A2E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343400" y="2907792"/>
            <a:ext cx="3611880" cy="658368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Each asset gets its own five-factor state-space model, so exposures are allowed to evolve through 2004-2013 instead of being one static regression beta.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21040" y="1170432"/>
            <a:ext cx="347472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 USE AVG FILTERED BETAS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21040" y="1517904"/>
            <a:ext cx="3474720" cy="1225296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Filtered betas use information available up to each month. Smoothed betas use future observations and are cleaner for diagnostics, but they introduce look-ahead bias for portfolio construction.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21040" y="2907792"/>
            <a:ext cx="3474720" cy="658368"/>
          </a:xfrm>
          <a:prstGeom prst="rect">
            <a:avLst/>
          </a:prstGeom>
          <a:solidFill>
            <a:srgbClr val="F7F8FC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9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Final convention: average filtered Kalman beta over the 2004-2013 sample, which smooths single-month noise while staying time-safe.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0040" y="4315968"/>
            <a:ext cx="1147572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 WHERE THE LOADINGS ENTER THE ANALYSIS</a:t>
            </a:r>
          </a:p>
        </p:txBody>
      </p:sp>
      <p:sp>
        <p:nvSpPr>
          <p:cNvPr id="53" name="Rect 53"/>
          <p:cNvSpPr/>
          <p:nvPr/>
        </p:nvSpPr>
        <p:spPr>
          <a:xfrm>
            <a:off x="320040" y="4645152"/>
            <a:ext cx="109728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320040" y="46451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Slide</a:t>
            </a:r>
          </a:p>
        </p:txBody>
      </p:sp>
      <p:sp>
        <p:nvSpPr>
          <p:cNvPr id="55" name="Rect 55"/>
          <p:cNvSpPr/>
          <p:nvPr/>
        </p:nvSpPr>
        <p:spPr>
          <a:xfrm>
            <a:off x="1417319" y="4645152"/>
            <a:ext cx="982980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1417319" y="4645152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Use of Loadings</a:t>
            </a:r>
          </a:p>
        </p:txBody>
      </p:sp>
      <p:sp>
        <p:nvSpPr>
          <p:cNvPr id="57" name="Rect 57"/>
          <p:cNvSpPr/>
          <p:nvPr/>
        </p:nvSpPr>
        <p:spPr>
          <a:xfrm>
            <a:off x="320040" y="4919472"/>
            <a:ext cx="10972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 58"/>
          <p:cNvSpPr txBox="1"/>
          <p:nvPr/>
        </p:nvSpPr>
        <p:spPr>
          <a:xfrm>
            <a:off x="320040" y="49194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Page 2</a:t>
            </a:r>
          </a:p>
        </p:txBody>
      </p:sp>
      <p:sp>
        <p:nvSpPr>
          <p:cNvPr id="59" name="Rect 59"/>
          <p:cNvSpPr/>
          <p:nvPr/>
        </p:nvSpPr>
        <p:spPr>
          <a:xfrm>
            <a:off x="1417319" y="4919472"/>
            <a:ext cx="9829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1417319" y="4919472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Identify likely asset classes and key risk drivers.</a:t>
            </a:r>
          </a:p>
        </p:txBody>
      </p:sp>
      <p:sp>
        <p:nvSpPr>
          <p:cNvPr id="61" name="Rect 61"/>
          <p:cNvSpPr/>
          <p:nvPr/>
        </p:nvSpPr>
        <p:spPr>
          <a:xfrm>
            <a:off x="320040" y="5193792"/>
            <a:ext cx="109728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 62"/>
          <p:cNvSpPr txBox="1"/>
          <p:nvPr/>
        </p:nvSpPr>
        <p:spPr>
          <a:xfrm>
            <a:off x="320040" y="5193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Page 3</a:t>
            </a:r>
          </a:p>
        </p:txBody>
      </p:sp>
      <p:sp>
        <p:nvSpPr>
          <p:cNvPr id="63" name="Rect 63"/>
          <p:cNvSpPr/>
          <p:nvPr/>
        </p:nvSpPr>
        <p:spPr>
          <a:xfrm>
            <a:off x="1417319" y="5193792"/>
            <a:ext cx="98298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1417319" y="5193792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Decompose current portfolio risk by factor TRC.</a:t>
            </a:r>
          </a:p>
        </p:txBody>
      </p:sp>
      <p:sp>
        <p:nvSpPr>
          <p:cNvPr id="65" name="Rect 65"/>
          <p:cNvSpPr/>
          <p:nvPr/>
        </p:nvSpPr>
        <p:spPr>
          <a:xfrm>
            <a:off x="320040" y="5468112"/>
            <a:ext cx="10972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320040" y="54681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Page 4</a:t>
            </a:r>
          </a:p>
        </p:txBody>
      </p:sp>
      <p:sp>
        <p:nvSpPr>
          <p:cNvPr id="67" name="Rect 67"/>
          <p:cNvSpPr/>
          <p:nvPr/>
        </p:nvSpPr>
        <p:spPr>
          <a:xfrm>
            <a:off x="1417319" y="5468112"/>
            <a:ext cx="9829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 68"/>
          <p:cNvSpPr txBox="1"/>
          <p:nvPr/>
        </p:nvSpPr>
        <p:spPr>
          <a:xfrm>
            <a:off x="1417319" y="5468112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Apply factor TRC caps and compare constrained vs relaxed MVO.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20040" y="5897880"/>
            <a:ext cx="11475720" cy="329184"/>
          </a:xfrm>
          <a:prstGeom prst="rect">
            <a:avLst/>
          </a:prstGeom>
          <a:solidFill>
            <a:srgbClr val="EBF8FF"/>
          </a:solidFill>
          <a:ln>
            <a:solidFill>
              <a:srgbClr val="A0AEC0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9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Data convention: Average filtered Kalman beta, 2004-01-31 to 2013-12-31; asset and factor returns are the shared 2004-2013 monthly project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Page 4B - Factor-Constrained MVO Considered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040" y="53035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>
                <a:solidFill>
                  <a:srgbClr val="404040"/>
                </a:solidFill>
                <a:latin typeface="Georgia"/>
                <a:ea typeface="Georgia"/>
                <a:cs typeface="Georgia"/>
              </a:rPr>
              <a:t>Assignment-style factor TRC guardrails considered before relaxing them for client feasibility.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solidFill>
            <a:srgbClr val="EDEBFF"/>
          </a:solidFill>
          <a:ln>
            <a:solidFill>
              <a:srgbClr val="C9C6E8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Objective: maximize Sharpe | return &gt;= 0.50% monthly | long-only | asset TRC &lt;= 40% | factor TRC capped, including US Growth &lt;= 40%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139903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PROPOSED ALLOCATION</a:t>
            </a:r>
          </a:p>
        </p:txBody>
      </p:sp>
      <p:sp>
        <p:nvSpPr>
          <p:cNvPr id="7" name="Rect 7"/>
          <p:cNvSpPr/>
          <p:nvPr/>
        </p:nvSpPr>
        <p:spPr>
          <a:xfrm>
            <a:off x="320040" y="1673352"/>
            <a:ext cx="96012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20040" y="1673352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</a:t>
            </a:r>
          </a:p>
        </p:txBody>
      </p:sp>
      <p:sp>
        <p:nvSpPr>
          <p:cNvPr id="9" name="Rect 9"/>
          <p:cNvSpPr/>
          <p:nvPr/>
        </p:nvSpPr>
        <p:spPr>
          <a:xfrm>
            <a:off x="1280160" y="1673352"/>
            <a:ext cx="73152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80160" y="1673352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Current</a:t>
            </a:r>
          </a:p>
        </p:txBody>
      </p:sp>
      <p:sp>
        <p:nvSpPr>
          <p:cNvPr id="11" name="Rect 11"/>
          <p:cNvSpPr/>
          <p:nvPr/>
        </p:nvSpPr>
        <p:spPr>
          <a:xfrm>
            <a:off x="2011680" y="1673352"/>
            <a:ext cx="77724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11680" y="167335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MVO</a:t>
            </a:r>
          </a:p>
        </p:txBody>
      </p:sp>
      <p:sp>
        <p:nvSpPr>
          <p:cNvPr id="13" name="Rect 13"/>
          <p:cNvSpPr/>
          <p:nvPr/>
        </p:nvSpPr>
        <p:spPr>
          <a:xfrm>
            <a:off x="2788920" y="1673352"/>
            <a:ext cx="82296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788920" y="1673352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Change</a:t>
            </a:r>
          </a:p>
        </p:txBody>
      </p:sp>
      <p:sp>
        <p:nvSpPr>
          <p:cNvPr id="15" name="Rect 15"/>
          <p:cNvSpPr/>
          <p:nvPr/>
        </p:nvSpPr>
        <p:spPr>
          <a:xfrm>
            <a:off x="320040" y="1920240"/>
            <a:ext cx="9601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20040" y="1920240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17" name="Rect 17"/>
          <p:cNvSpPr/>
          <p:nvPr/>
        </p:nvSpPr>
        <p:spPr>
          <a:xfrm>
            <a:off x="1280160" y="1920240"/>
            <a:ext cx="7315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280160" y="1920240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19" name="Rect 19"/>
          <p:cNvSpPr/>
          <p:nvPr/>
        </p:nvSpPr>
        <p:spPr>
          <a:xfrm>
            <a:off x="2011680" y="1920240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2011680" y="1920240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42.1%</a:t>
            </a:r>
          </a:p>
        </p:txBody>
      </p:sp>
      <p:sp>
        <p:nvSpPr>
          <p:cNvPr id="21" name="Rect 21"/>
          <p:cNvSpPr/>
          <p:nvPr/>
        </p:nvSpPr>
        <p:spPr>
          <a:xfrm>
            <a:off x="2788920" y="1920240"/>
            <a:ext cx="82296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788920" y="1920240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+22.1 pts</a:t>
            </a:r>
          </a:p>
        </p:txBody>
      </p:sp>
      <p:sp>
        <p:nvSpPr>
          <p:cNvPr id="23" name="Rect 23"/>
          <p:cNvSpPr/>
          <p:nvPr/>
        </p:nvSpPr>
        <p:spPr>
          <a:xfrm>
            <a:off x="320040" y="2167128"/>
            <a:ext cx="9601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320040" y="2167128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25" name="Rect 25"/>
          <p:cNvSpPr/>
          <p:nvPr/>
        </p:nvSpPr>
        <p:spPr>
          <a:xfrm>
            <a:off x="1280160" y="2167128"/>
            <a:ext cx="7315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280160" y="2167128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27" name="Rect 27"/>
          <p:cNvSpPr/>
          <p:nvPr/>
        </p:nvSpPr>
        <p:spPr>
          <a:xfrm>
            <a:off x="2011680" y="2167128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2011680" y="2167128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15.0%</a:t>
            </a:r>
          </a:p>
        </p:txBody>
      </p:sp>
      <p:sp>
        <p:nvSpPr>
          <p:cNvPr id="29" name="Rect 29"/>
          <p:cNvSpPr/>
          <p:nvPr/>
        </p:nvSpPr>
        <p:spPr>
          <a:xfrm>
            <a:off x="2788920" y="2167128"/>
            <a:ext cx="82296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2788920" y="2167128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-5.0 pts</a:t>
            </a:r>
          </a:p>
        </p:txBody>
      </p:sp>
      <p:sp>
        <p:nvSpPr>
          <p:cNvPr id="31" name="Rect 31"/>
          <p:cNvSpPr/>
          <p:nvPr/>
        </p:nvSpPr>
        <p:spPr>
          <a:xfrm>
            <a:off x="320040" y="2414016"/>
            <a:ext cx="9601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320040" y="2414016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33" name="Rect 33"/>
          <p:cNvSpPr/>
          <p:nvPr/>
        </p:nvSpPr>
        <p:spPr>
          <a:xfrm>
            <a:off x="1280160" y="2414016"/>
            <a:ext cx="7315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280160" y="2414016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35" name="Rect 35"/>
          <p:cNvSpPr/>
          <p:nvPr/>
        </p:nvSpPr>
        <p:spPr>
          <a:xfrm>
            <a:off x="2011680" y="2414016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2011680" y="2414016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12.6%</a:t>
            </a:r>
          </a:p>
        </p:txBody>
      </p:sp>
      <p:sp>
        <p:nvSpPr>
          <p:cNvPr id="37" name="Rect 37"/>
          <p:cNvSpPr/>
          <p:nvPr/>
        </p:nvSpPr>
        <p:spPr>
          <a:xfrm>
            <a:off x="2788920" y="2414016"/>
            <a:ext cx="82296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2788920" y="2414016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-7.4 pts</a:t>
            </a:r>
          </a:p>
        </p:txBody>
      </p:sp>
      <p:sp>
        <p:nvSpPr>
          <p:cNvPr id="39" name="Rect 39"/>
          <p:cNvSpPr/>
          <p:nvPr/>
        </p:nvSpPr>
        <p:spPr>
          <a:xfrm>
            <a:off x="320040" y="2660904"/>
            <a:ext cx="9601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320040" y="2660904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41" name="Rect 41"/>
          <p:cNvSpPr/>
          <p:nvPr/>
        </p:nvSpPr>
        <p:spPr>
          <a:xfrm>
            <a:off x="1280160" y="2660904"/>
            <a:ext cx="7315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280160" y="2660904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43" name="Rect 43"/>
          <p:cNvSpPr/>
          <p:nvPr/>
        </p:nvSpPr>
        <p:spPr>
          <a:xfrm>
            <a:off x="2011680" y="2660904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2011680" y="2660904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0.0%</a:t>
            </a:r>
          </a:p>
        </p:txBody>
      </p:sp>
      <p:sp>
        <p:nvSpPr>
          <p:cNvPr id="45" name="Rect 45"/>
          <p:cNvSpPr/>
          <p:nvPr/>
        </p:nvSpPr>
        <p:spPr>
          <a:xfrm>
            <a:off x="2788920" y="2660904"/>
            <a:ext cx="82296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2788920" y="2660904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-20.0 pts</a:t>
            </a:r>
          </a:p>
        </p:txBody>
      </p:sp>
      <p:sp>
        <p:nvSpPr>
          <p:cNvPr id="47" name="Rect 47"/>
          <p:cNvSpPr/>
          <p:nvPr/>
        </p:nvSpPr>
        <p:spPr>
          <a:xfrm>
            <a:off x="320040" y="2907792"/>
            <a:ext cx="9601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320040" y="2907792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49" name="Rect 49"/>
          <p:cNvSpPr/>
          <p:nvPr/>
        </p:nvSpPr>
        <p:spPr>
          <a:xfrm>
            <a:off x="1280160" y="2907792"/>
            <a:ext cx="7315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1280160" y="2907792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51" name="Rect 51"/>
          <p:cNvSpPr/>
          <p:nvPr/>
        </p:nvSpPr>
        <p:spPr>
          <a:xfrm>
            <a:off x="2011680" y="2907792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011680" y="290779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30.3%</a:t>
            </a:r>
          </a:p>
        </p:txBody>
      </p:sp>
      <p:sp>
        <p:nvSpPr>
          <p:cNvPr id="53" name="Rect 53"/>
          <p:cNvSpPr/>
          <p:nvPr/>
        </p:nvSpPr>
        <p:spPr>
          <a:xfrm>
            <a:off x="2788920" y="2907792"/>
            <a:ext cx="82296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2788920" y="2907792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+10.3 pts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977639" y="13990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KEY RISK RATIOS</a:t>
            </a:r>
          </a:p>
        </p:txBody>
      </p:sp>
      <p:sp>
        <p:nvSpPr>
          <p:cNvPr id="56" name="Rect 56"/>
          <p:cNvSpPr/>
          <p:nvPr/>
        </p:nvSpPr>
        <p:spPr>
          <a:xfrm>
            <a:off x="3977639" y="1673352"/>
            <a:ext cx="132588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3977639" y="16733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Metric</a:t>
            </a:r>
          </a:p>
        </p:txBody>
      </p:sp>
      <p:sp>
        <p:nvSpPr>
          <p:cNvPr id="58" name="Rect 58"/>
          <p:cNvSpPr/>
          <p:nvPr/>
        </p:nvSpPr>
        <p:spPr>
          <a:xfrm>
            <a:off x="5303520" y="1673352"/>
            <a:ext cx="114300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5303520" y="167335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Value</a:t>
            </a:r>
          </a:p>
        </p:txBody>
      </p:sp>
      <p:sp>
        <p:nvSpPr>
          <p:cNvPr id="60" name="Rect 60"/>
          <p:cNvSpPr/>
          <p:nvPr/>
        </p:nvSpPr>
        <p:spPr>
          <a:xfrm>
            <a:off x="3977639" y="1947672"/>
            <a:ext cx="13258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3977639" y="194767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Ann. Return</a:t>
            </a:r>
          </a:p>
        </p:txBody>
      </p:sp>
      <p:sp>
        <p:nvSpPr>
          <p:cNvPr id="62" name="Rect 62"/>
          <p:cNvSpPr/>
          <p:nvPr/>
        </p:nvSpPr>
        <p:spPr>
          <a:xfrm>
            <a:off x="5303520" y="1947672"/>
            <a:ext cx="1143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5303520" y="194767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6.00%</a:t>
            </a:r>
          </a:p>
        </p:txBody>
      </p:sp>
      <p:sp>
        <p:nvSpPr>
          <p:cNvPr id="64" name="Rect 64"/>
          <p:cNvSpPr/>
          <p:nvPr/>
        </p:nvSpPr>
        <p:spPr>
          <a:xfrm>
            <a:off x="3977639" y="2221992"/>
            <a:ext cx="132588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3977639" y="222199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Ann. Vol</a:t>
            </a:r>
          </a:p>
        </p:txBody>
      </p:sp>
      <p:sp>
        <p:nvSpPr>
          <p:cNvPr id="66" name="Rect 66"/>
          <p:cNvSpPr/>
          <p:nvPr/>
        </p:nvSpPr>
        <p:spPr>
          <a:xfrm>
            <a:off x="5303520" y="2221992"/>
            <a:ext cx="11430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5303520" y="222199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6.21%</a:t>
            </a:r>
          </a:p>
        </p:txBody>
      </p:sp>
      <p:sp>
        <p:nvSpPr>
          <p:cNvPr id="68" name="Rect 68"/>
          <p:cNvSpPr/>
          <p:nvPr/>
        </p:nvSpPr>
        <p:spPr>
          <a:xfrm>
            <a:off x="3977639" y="2496312"/>
            <a:ext cx="13258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9"/>
          <p:cNvSpPr txBox="1"/>
          <p:nvPr/>
        </p:nvSpPr>
        <p:spPr>
          <a:xfrm>
            <a:off x="3977639" y="249631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Sharpe</a:t>
            </a:r>
          </a:p>
        </p:txBody>
      </p:sp>
      <p:sp>
        <p:nvSpPr>
          <p:cNvPr id="70" name="Rect 70"/>
          <p:cNvSpPr/>
          <p:nvPr/>
        </p:nvSpPr>
        <p:spPr>
          <a:xfrm>
            <a:off x="5303520" y="2496312"/>
            <a:ext cx="1143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5303520" y="249631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0.555</a:t>
            </a:r>
          </a:p>
        </p:txBody>
      </p:sp>
      <p:sp>
        <p:nvSpPr>
          <p:cNvPr id="72" name="Rect 72"/>
          <p:cNvSpPr/>
          <p:nvPr/>
        </p:nvSpPr>
        <p:spPr>
          <a:xfrm>
            <a:off x="3977639" y="2770632"/>
            <a:ext cx="132588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 73"/>
          <p:cNvSpPr txBox="1"/>
          <p:nvPr/>
        </p:nvSpPr>
        <p:spPr>
          <a:xfrm>
            <a:off x="3977639" y="277063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 vs Current</a:t>
            </a:r>
          </a:p>
        </p:txBody>
      </p:sp>
      <p:sp>
        <p:nvSpPr>
          <p:cNvPr id="74" name="Rect 74"/>
          <p:cNvSpPr/>
          <p:nvPr/>
        </p:nvSpPr>
        <p:spPr>
          <a:xfrm>
            <a:off x="5303520" y="2770632"/>
            <a:ext cx="11430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5"/>
          <p:cNvSpPr txBox="1"/>
          <p:nvPr/>
        </p:nvSpPr>
        <p:spPr>
          <a:xfrm>
            <a:off x="5303520" y="277063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3.06%</a:t>
            </a:r>
          </a:p>
        </p:txBody>
      </p:sp>
      <p:sp>
        <p:nvSpPr>
          <p:cNvPr id="76" name="Rect 76"/>
          <p:cNvSpPr/>
          <p:nvPr/>
        </p:nvSpPr>
        <p:spPr>
          <a:xfrm>
            <a:off x="3977639" y="3044952"/>
            <a:ext cx="13258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 77"/>
          <p:cNvSpPr txBox="1"/>
          <p:nvPr/>
        </p:nvSpPr>
        <p:spPr>
          <a:xfrm>
            <a:off x="3977639" y="30449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Worst DD</a:t>
            </a:r>
          </a:p>
        </p:txBody>
      </p:sp>
      <p:sp>
        <p:nvSpPr>
          <p:cNvPr id="78" name="Rect 78"/>
          <p:cNvSpPr/>
          <p:nvPr/>
        </p:nvSpPr>
        <p:spPr>
          <a:xfrm>
            <a:off x="5303520" y="3044952"/>
            <a:ext cx="1143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 79"/>
          <p:cNvSpPr txBox="1"/>
          <p:nvPr/>
        </p:nvSpPr>
        <p:spPr>
          <a:xfrm>
            <a:off x="5303520" y="304495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-22.8%</a:t>
            </a:r>
          </a:p>
        </p:txBody>
      </p:sp>
      <p:sp>
        <p:nvSpPr>
          <p:cNvPr id="80" name="Rect 80"/>
          <p:cNvSpPr/>
          <p:nvPr/>
        </p:nvSpPr>
        <p:spPr>
          <a:xfrm>
            <a:off x="3977639" y="3319272"/>
            <a:ext cx="132588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3977639" y="331927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Gross Exposure</a:t>
            </a:r>
          </a:p>
        </p:txBody>
      </p:sp>
      <p:sp>
        <p:nvSpPr>
          <p:cNvPr id="82" name="Rect 82"/>
          <p:cNvSpPr/>
          <p:nvPr/>
        </p:nvSpPr>
        <p:spPr>
          <a:xfrm>
            <a:off x="5303520" y="3319272"/>
            <a:ext cx="11430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3"/>
          <p:cNvSpPr txBox="1"/>
          <p:nvPr/>
        </p:nvSpPr>
        <p:spPr>
          <a:xfrm>
            <a:off x="5303520" y="331927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1.00x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812280" y="139903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TOP FACTOR TRC (CAPS)</a:t>
            </a:r>
          </a:p>
        </p:txBody>
      </p:sp>
      <p:sp>
        <p:nvSpPr>
          <p:cNvPr id="85" name="Rect 85"/>
          <p:cNvSpPr/>
          <p:nvPr/>
        </p:nvSpPr>
        <p:spPr>
          <a:xfrm>
            <a:off x="6812280" y="1673352"/>
            <a:ext cx="182880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Box 86"/>
          <p:cNvSpPr txBox="1"/>
          <p:nvPr/>
        </p:nvSpPr>
        <p:spPr>
          <a:xfrm>
            <a:off x="6812280" y="167335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Factor</a:t>
            </a:r>
          </a:p>
        </p:txBody>
      </p:sp>
      <p:sp>
        <p:nvSpPr>
          <p:cNvPr id="87" name="Rect 87"/>
          <p:cNvSpPr/>
          <p:nvPr/>
        </p:nvSpPr>
        <p:spPr>
          <a:xfrm>
            <a:off x="8641080" y="1673352"/>
            <a:ext cx="77724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 88"/>
          <p:cNvSpPr txBox="1"/>
          <p:nvPr/>
        </p:nvSpPr>
        <p:spPr>
          <a:xfrm>
            <a:off x="8641080" y="167335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TRC</a:t>
            </a:r>
          </a:p>
        </p:txBody>
      </p:sp>
      <p:sp>
        <p:nvSpPr>
          <p:cNvPr id="89" name="Rect 89"/>
          <p:cNvSpPr/>
          <p:nvPr/>
        </p:nvSpPr>
        <p:spPr>
          <a:xfrm>
            <a:off x="9418319" y="1673352"/>
            <a:ext cx="91440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Box 90"/>
          <p:cNvSpPr txBox="1"/>
          <p:nvPr/>
        </p:nvSpPr>
        <p:spPr>
          <a:xfrm>
            <a:off x="9418319" y="1673352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Cap</a:t>
            </a:r>
          </a:p>
        </p:txBody>
      </p:sp>
      <p:sp>
        <p:nvSpPr>
          <p:cNvPr id="91" name="Rect 91"/>
          <p:cNvSpPr/>
          <p:nvPr/>
        </p:nvSpPr>
        <p:spPr>
          <a:xfrm>
            <a:off x="6812280" y="1920240"/>
            <a:ext cx="1828800" cy="246888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 92"/>
          <p:cNvSpPr txBox="1"/>
          <p:nvPr/>
        </p:nvSpPr>
        <p:spPr>
          <a:xfrm>
            <a:off x="6812280" y="192024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Growth</a:t>
            </a:r>
          </a:p>
        </p:txBody>
      </p:sp>
      <p:sp>
        <p:nvSpPr>
          <p:cNvPr id="93" name="Rect 93"/>
          <p:cNvSpPr/>
          <p:nvPr/>
        </p:nvSpPr>
        <p:spPr>
          <a:xfrm>
            <a:off x="8641080" y="1920240"/>
            <a:ext cx="777240" cy="246888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 94"/>
          <p:cNvSpPr txBox="1"/>
          <p:nvPr/>
        </p:nvSpPr>
        <p:spPr>
          <a:xfrm>
            <a:off x="8641080" y="1920240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40.0%</a:t>
            </a:r>
          </a:p>
        </p:txBody>
      </p:sp>
      <p:sp>
        <p:nvSpPr>
          <p:cNvPr id="95" name="Rect 95"/>
          <p:cNvSpPr/>
          <p:nvPr/>
        </p:nvSpPr>
        <p:spPr>
          <a:xfrm>
            <a:off x="9418319" y="1920240"/>
            <a:ext cx="914400" cy="246888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 96"/>
          <p:cNvSpPr txBox="1"/>
          <p:nvPr/>
        </p:nvSpPr>
        <p:spPr>
          <a:xfrm>
            <a:off x="9418319" y="192024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40.0%</a:t>
            </a:r>
          </a:p>
        </p:txBody>
      </p:sp>
      <p:sp>
        <p:nvSpPr>
          <p:cNvPr id="97" name="Rect 97"/>
          <p:cNvSpPr/>
          <p:nvPr/>
        </p:nvSpPr>
        <p:spPr>
          <a:xfrm>
            <a:off x="6812280" y="2167128"/>
            <a:ext cx="18288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Box 98"/>
          <p:cNvSpPr txBox="1"/>
          <p:nvPr/>
        </p:nvSpPr>
        <p:spPr>
          <a:xfrm>
            <a:off x="6812280" y="216712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TIPs</a:t>
            </a:r>
          </a:p>
        </p:txBody>
      </p:sp>
      <p:sp>
        <p:nvSpPr>
          <p:cNvPr id="99" name="Rect 99"/>
          <p:cNvSpPr/>
          <p:nvPr/>
        </p:nvSpPr>
        <p:spPr>
          <a:xfrm>
            <a:off x="8641080" y="2167128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 100"/>
          <p:cNvSpPr txBox="1"/>
          <p:nvPr/>
        </p:nvSpPr>
        <p:spPr>
          <a:xfrm>
            <a:off x="8641080" y="2167128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19.9%</a:t>
            </a:r>
          </a:p>
        </p:txBody>
      </p:sp>
      <p:sp>
        <p:nvSpPr>
          <p:cNvPr id="101" name="Rect 101"/>
          <p:cNvSpPr/>
          <p:nvPr/>
        </p:nvSpPr>
        <p:spPr>
          <a:xfrm>
            <a:off x="9418319" y="2167128"/>
            <a:ext cx="9144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2"/>
          <p:cNvSpPr txBox="1"/>
          <p:nvPr/>
        </p:nvSpPr>
        <p:spPr>
          <a:xfrm>
            <a:off x="9418319" y="2167128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30.0%</a:t>
            </a:r>
          </a:p>
        </p:txBody>
      </p:sp>
      <p:sp>
        <p:nvSpPr>
          <p:cNvPr id="103" name="Rect 103"/>
          <p:cNvSpPr/>
          <p:nvPr/>
        </p:nvSpPr>
        <p:spPr>
          <a:xfrm>
            <a:off x="6812280" y="2414016"/>
            <a:ext cx="1828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6812280" y="2414016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Long Short HF</a:t>
            </a:r>
          </a:p>
        </p:txBody>
      </p:sp>
      <p:sp>
        <p:nvSpPr>
          <p:cNvPr id="105" name="Rect 105"/>
          <p:cNvSpPr/>
          <p:nvPr/>
        </p:nvSpPr>
        <p:spPr>
          <a:xfrm>
            <a:off x="8641080" y="2414016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 106"/>
          <p:cNvSpPr txBox="1"/>
          <p:nvPr/>
        </p:nvSpPr>
        <p:spPr>
          <a:xfrm>
            <a:off x="8641080" y="2414016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18.6%</a:t>
            </a:r>
          </a:p>
        </p:txBody>
      </p:sp>
      <p:sp>
        <p:nvSpPr>
          <p:cNvPr id="107" name="Rect 107"/>
          <p:cNvSpPr/>
          <p:nvPr/>
        </p:nvSpPr>
        <p:spPr>
          <a:xfrm>
            <a:off x="9418319" y="2414016"/>
            <a:ext cx="914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8"/>
          <p:cNvSpPr txBox="1"/>
          <p:nvPr/>
        </p:nvSpPr>
        <p:spPr>
          <a:xfrm>
            <a:off x="9418319" y="24140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109" name="Rect 109"/>
          <p:cNvSpPr/>
          <p:nvPr/>
        </p:nvSpPr>
        <p:spPr>
          <a:xfrm>
            <a:off x="6812280" y="2660904"/>
            <a:ext cx="18288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Box 110"/>
          <p:cNvSpPr txBox="1"/>
          <p:nvPr/>
        </p:nvSpPr>
        <p:spPr>
          <a:xfrm>
            <a:off x="6812280" y="266090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Commodities</a:t>
            </a:r>
          </a:p>
        </p:txBody>
      </p:sp>
      <p:sp>
        <p:nvSpPr>
          <p:cNvPr id="111" name="Rect 111"/>
          <p:cNvSpPr/>
          <p:nvPr/>
        </p:nvSpPr>
        <p:spPr>
          <a:xfrm>
            <a:off x="8641080" y="2660904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 112"/>
          <p:cNvSpPr txBox="1"/>
          <p:nvPr/>
        </p:nvSpPr>
        <p:spPr>
          <a:xfrm>
            <a:off x="8641080" y="2660904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12.4%</a:t>
            </a:r>
          </a:p>
        </p:txBody>
      </p:sp>
      <p:sp>
        <p:nvSpPr>
          <p:cNvPr id="113" name="Rect 113"/>
          <p:cNvSpPr/>
          <p:nvPr/>
        </p:nvSpPr>
        <p:spPr>
          <a:xfrm>
            <a:off x="9418319" y="2660904"/>
            <a:ext cx="9144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4"/>
          <p:cNvSpPr txBox="1"/>
          <p:nvPr/>
        </p:nvSpPr>
        <p:spPr>
          <a:xfrm>
            <a:off x="9418319" y="2660904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30.0%</a:t>
            </a:r>
          </a:p>
        </p:txBody>
      </p:sp>
      <p:sp>
        <p:nvSpPr>
          <p:cNvPr id="115" name="Rect 115"/>
          <p:cNvSpPr/>
          <p:nvPr/>
        </p:nvSpPr>
        <p:spPr>
          <a:xfrm>
            <a:off x="6812280" y="2907792"/>
            <a:ext cx="1828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Box 116"/>
          <p:cNvSpPr txBox="1"/>
          <p:nvPr/>
        </p:nvSpPr>
        <p:spPr>
          <a:xfrm>
            <a:off x="6812280" y="290779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AGG</a:t>
            </a:r>
          </a:p>
        </p:txBody>
      </p:sp>
      <p:sp>
        <p:nvSpPr>
          <p:cNvPr id="117" name="Rect 117"/>
          <p:cNvSpPr/>
          <p:nvPr/>
        </p:nvSpPr>
        <p:spPr>
          <a:xfrm>
            <a:off x="8641080" y="2907792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Box 118"/>
          <p:cNvSpPr txBox="1"/>
          <p:nvPr/>
        </p:nvSpPr>
        <p:spPr>
          <a:xfrm>
            <a:off x="8641080" y="290779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8.3%</a:t>
            </a:r>
          </a:p>
        </p:txBody>
      </p:sp>
      <p:sp>
        <p:nvSpPr>
          <p:cNvPr id="119" name="Rect 119"/>
          <p:cNvSpPr/>
          <p:nvPr/>
        </p:nvSpPr>
        <p:spPr>
          <a:xfrm>
            <a:off x="9418319" y="2907792"/>
            <a:ext cx="914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 120"/>
          <p:cNvSpPr txBox="1"/>
          <p:nvPr/>
        </p:nvSpPr>
        <p:spPr>
          <a:xfrm>
            <a:off x="9418319" y="2907792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25.0%</a:t>
            </a:r>
          </a:p>
        </p:txBody>
      </p:sp>
      <p:sp>
        <p:nvSpPr>
          <p:cNvPr id="121" name="Rect 121"/>
          <p:cNvSpPr/>
          <p:nvPr/>
        </p:nvSpPr>
        <p:spPr>
          <a:xfrm>
            <a:off x="6812280" y="3154680"/>
            <a:ext cx="18288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Box 122"/>
          <p:cNvSpPr txBox="1"/>
          <p:nvPr/>
        </p:nvSpPr>
        <p:spPr>
          <a:xfrm>
            <a:off x="6812280" y="315468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Global AGG</a:t>
            </a:r>
          </a:p>
        </p:txBody>
      </p:sp>
      <p:sp>
        <p:nvSpPr>
          <p:cNvPr id="123" name="Rect 123"/>
          <p:cNvSpPr/>
          <p:nvPr/>
        </p:nvSpPr>
        <p:spPr>
          <a:xfrm>
            <a:off x="8641080" y="3154680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Box 124"/>
          <p:cNvSpPr txBox="1"/>
          <p:nvPr/>
        </p:nvSpPr>
        <p:spPr>
          <a:xfrm>
            <a:off x="8641080" y="3154680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4.7%</a:t>
            </a:r>
          </a:p>
        </p:txBody>
      </p:sp>
      <p:sp>
        <p:nvSpPr>
          <p:cNvPr id="125" name="Rect 125"/>
          <p:cNvSpPr/>
          <p:nvPr/>
        </p:nvSpPr>
        <p:spPr>
          <a:xfrm>
            <a:off x="9418319" y="3154680"/>
            <a:ext cx="9144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9418319" y="315468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15.0%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320040" y="3456432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TOTAL RISK CONTRIBUTION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320040" y="3767328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129" name="Rect 129"/>
          <p:cNvSpPr/>
          <p:nvPr/>
        </p:nvSpPr>
        <p:spPr>
          <a:xfrm>
            <a:off x="1097280" y="3794760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 130"/>
          <p:cNvSpPr/>
          <p:nvPr/>
        </p:nvSpPr>
        <p:spPr>
          <a:xfrm>
            <a:off x="1097280" y="3794760"/>
            <a:ext cx="455690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 131"/>
          <p:cNvSpPr txBox="1"/>
          <p:nvPr/>
        </p:nvSpPr>
        <p:spPr>
          <a:xfrm>
            <a:off x="4681728" y="376732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5.6%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20040" y="409651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133" name="Rect 133"/>
          <p:cNvSpPr/>
          <p:nvPr/>
        </p:nvSpPr>
        <p:spPr>
          <a:xfrm>
            <a:off x="1097280" y="4123944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Rect 134"/>
          <p:cNvSpPr/>
          <p:nvPr/>
        </p:nvSpPr>
        <p:spPr>
          <a:xfrm>
            <a:off x="1097280" y="4123944"/>
            <a:ext cx="2614048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5"/>
          <p:cNvSpPr txBox="1"/>
          <p:nvPr/>
        </p:nvSpPr>
        <p:spPr>
          <a:xfrm>
            <a:off x="4681728" y="4096512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32.2%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20040" y="4425696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137" name="Rect 137"/>
          <p:cNvSpPr/>
          <p:nvPr/>
        </p:nvSpPr>
        <p:spPr>
          <a:xfrm>
            <a:off x="1097280" y="4453128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Rect 138"/>
          <p:cNvSpPr/>
          <p:nvPr/>
        </p:nvSpPr>
        <p:spPr>
          <a:xfrm>
            <a:off x="1097280" y="4453128"/>
            <a:ext cx="3246119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Box 139"/>
          <p:cNvSpPr txBox="1"/>
          <p:nvPr/>
        </p:nvSpPr>
        <p:spPr>
          <a:xfrm>
            <a:off x="4681728" y="442569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40.0%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20040" y="4754880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141" name="Rect 141"/>
          <p:cNvSpPr/>
          <p:nvPr/>
        </p:nvSpPr>
        <p:spPr>
          <a:xfrm>
            <a:off x="1097280" y="4782312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 142"/>
          <p:cNvSpPr txBox="1"/>
          <p:nvPr/>
        </p:nvSpPr>
        <p:spPr>
          <a:xfrm>
            <a:off x="4681728" y="4754880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0.0%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320040" y="508406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144" name="Rect 144"/>
          <p:cNvSpPr/>
          <p:nvPr/>
        </p:nvSpPr>
        <p:spPr>
          <a:xfrm>
            <a:off x="1097280" y="5111496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Rect 145"/>
          <p:cNvSpPr/>
          <p:nvPr/>
        </p:nvSpPr>
        <p:spPr>
          <a:xfrm>
            <a:off x="1097280" y="5111496"/>
            <a:ext cx="1799441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Box 146"/>
          <p:cNvSpPr txBox="1"/>
          <p:nvPr/>
        </p:nvSpPr>
        <p:spPr>
          <a:xfrm>
            <a:off x="4681728" y="508406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22.2%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1097280" y="5468112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666666"/>
                </a:solidFill>
                <a:latin typeface="Georgia"/>
                <a:ea typeface="Georgia"/>
                <a:cs typeface="Georgia"/>
              </a:rPr>
              <a:t>Asset TRC shows each asset's share of total portfolio variance.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5806440" y="3730752"/>
            <a:ext cx="5715000" cy="621792"/>
          </a:xfrm>
          <a:prstGeom prst="rect">
            <a:avLst/>
          </a:prstGeom>
          <a:solidFill>
            <a:srgbClr val="F7F7FA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Factor model input: Average filtered Kalman beta, 2004-01-31 to 2013-12-31. Averaging filtered betas smooths single-date Kalman noise and uses only information available by 12/31/2013.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5806440" y="4553712"/>
            <a:ext cx="5715000" cy="1143000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Georgia"/>
                <a:ea typeface="Georgia"/>
                <a:cs typeface="Georgia"/>
              </a:rPr>
              <a:t>Why this cannot satisfy the client: </a:t>
            </a:r>
          </a:p>
          <a:p>
            <a:pPr algn="l"/>
            <a:endParaRPr lang="en-US" sz="800" dirty="0">
              <a:solidFill>
                <a:srgbClr val="404040"/>
              </a:solidFill>
              <a:latin typeface="Georgia"/>
              <a:ea typeface="Georgia"/>
              <a:cs typeface="Georgia"/>
            </a:endParaRPr>
          </a:p>
          <a:p>
            <a:pPr algn="l"/>
            <a:r>
              <a:rPr lang="en-US" sz="1000" dirty="0">
                <a:solidFill>
                  <a:srgbClr val="404040"/>
                </a:solidFill>
                <a:latin typeface="Georgia"/>
                <a:ea typeface="Georgia"/>
                <a:cs typeface="Georgia"/>
              </a:rPr>
              <a:t>It meets the rounded 6.00% yearly hurdle, but five-year wealth is $22.98mm, slightly below $23.00mm. More importantly, worst historical wealth drawdown is -22.8% of initial wealth, versus the client's -15.0% limit. Long-only factor caps leave no short hedge to reduce the 2008 drawdown enough.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074920" y="6528816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QFGB 8948 - Team Portfolio Project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4B</a:t>
            </a:r>
          </a:p>
        </p:txBody>
      </p:sp>
      <p:sp>
        <p:nvSpPr>
          <p:cNvPr id="9000" name="Rect 9000"/>
          <p:cNvSpPr/>
          <p:nvPr/>
        </p:nvSpPr>
        <p:spPr>
          <a:xfrm>
            <a:off x="0" y="0"/>
            <a:ext cx="12191695" cy="1362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Rect 900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TextBox 9002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4A — Factor-Constrained MVO Considered</a:t>
            </a:r>
          </a:p>
        </p:txBody>
      </p:sp>
      <p:sp>
        <p:nvSpPr>
          <p:cNvPr id="9003" name="TextBox 9003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Assignment-style factor TRC guardrails considered before relaxing them for client feasibility.</a:t>
            </a:r>
          </a:p>
        </p:txBody>
      </p:sp>
      <p:sp>
        <p:nvSpPr>
          <p:cNvPr id="9004" name="TextBox 9004"/>
          <p:cNvSpPr txBox="1"/>
          <p:nvPr/>
        </p:nvSpPr>
        <p:spPr>
          <a:xfrm>
            <a:off x="320040" y="1078992"/>
            <a:ext cx="1152144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Objective: maximize Sharpe | return &gt;= 6.02% yearly | long-only | asset TRC &lt;= 40% | factor TRC capped, including US Growth &lt;= 40%</a:t>
            </a:r>
          </a:p>
        </p:txBody>
      </p:sp>
      <p:sp>
        <p:nvSpPr>
          <p:cNvPr id="9005" name="Rect 9005"/>
          <p:cNvSpPr/>
          <p:nvPr/>
        </p:nvSpPr>
        <p:spPr>
          <a:xfrm>
            <a:off x="0" y="6419088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6" name="TextBox 900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9007" name="TextBox 900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4B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7315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Page 4A - Client-Constrained MVO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040" y="530352"/>
            <a:ext cx="113385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>
                <a:solidFill>
                  <a:srgbClr val="404040"/>
                </a:solidFill>
                <a:latin typeface="Georgia"/>
                <a:ea typeface="Georgia"/>
                <a:cs typeface="Georgia"/>
              </a:rPr>
              <a:t>Relaxed assignment risk caps so the final recommendation satisfies the client's return and drawdown goals.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solidFill>
            <a:srgbClr val="EDEBFF"/>
          </a:solidFill>
          <a:ln>
            <a:solidFill>
              <a:srgbClr val="C9C6E8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Objective: maximize Sharpe | exact Page 1 wealth-target return | historical drawdown &gt;= -15% of initial wealth | factor/asset TRC caps relaxed | gross &lt;= 2.10x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139903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PROPOSED ALLOCATION</a:t>
            </a:r>
          </a:p>
        </p:txBody>
      </p:sp>
      <p:sp>
        <p:nvSpPr>
          <p:cNvPr id="7" name="Rect 7"/>
          <p:cNvSpPr/>
          <p:nvPr/>
        </p:nvSpPr>
        <p:spPr>
          <a:xfrm>
            <a:off x="320040" y="1673352"/>
            <a:ext cx="96012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20040" y="1673352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</a:t>
            </a:r>
          </a:p>
        </p:txBody>
      </p:sp>
      <p:sp>
        <p:nvSpPr>
          <p:cNvPr id="9" name="Rect 9"/>
          <p:cNvSpPr/>
          <p:nvPr/>
        </p:nvSpPr>
        <p:spPr>
          <a:xfrm>
            <a:off x="1280160" y="1673352"/>
            <a:ext cx="73152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80160" y="1673352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Current</a:t>
            </a:r>
          </a:p>
        </p:txBody>
      </p:sp>
      <p:sp>
        <p:nvSpPr>
          <p:cNvPr id="11" name="Rect 11"/>
          <p:cNvSpPr/>
          <p:nvPr/>
        </p:nvSpPr>
        <p:spPr>
          <a:xfrm>
            <a:off x="2011680" y="1673352"/>
            <a:ext cx="77724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11680" y="167335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MVO</a:t>
            </a:r>
          </a:p>
        </p:txBody>
      </p:sp>
      <p:sp>
        <p:nvSpPr>
          <p:cNvPr id="13" name="Rect 13"/>
          <p:cNvSpPr/>
          <p:nvPr/>
        </p:nvSpPr>
        <p:spPr>
          <a:xfrm>
            <a:off x="2788920" y="1673352"/>
            <a:ext cx="82296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788920" y="1673352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Change</a:t>
            </a:r>
          </a:p>
        </p:txBody>
      </p:sp>
      <p:sp>
        <p:nvSpPr>
          <p:cNvPr id="15" name="Rect 15"/>
          <p:cNvSpPr/>
          <p:nvPr/>
        </p:nvSpPr>
        <p:spPr>
          <a:xfrm>
            <a:off x="320040" y="1920240"/>
            <a:ext cx="9601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20040" y="1920240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17" name="Rect 17"/>
          <p:cNvSpPr/>
          <p:nvPr/>
        </p:nvSpPr>
        <p:spPr>
          <a:xfrm>
            <a:off x="1280160" y="1920240"/>
            <a:ext cx="7315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280160" y="1920240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19" name="Rect 19"/>
          <p:cNvSpPr/>
          <p:nvPr/>
        </p:nvSpPr>
        <p:spPr>
          <a:xfrm>
            <a:off x="2011680" y="1920240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2011680" y="1920240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120.0%</a:t>
            </a:r>
          </a:p>
        </p:txBody>
      </p:sp>
      <p:sp>
        <p:nvSpPr>
          <p:cNvPr id="21" name="Rect 21"/>
          <p:cNvSpPr/>
          <p:nvPr/>
        </p:nvSpPr>
        <p:spPr>
          <a:xfrm>
            <a:off x="2788920" y="1920240"/>
            <a:ext cx="82296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788920" y="1920240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+100.0 pts</a:t>
            </a:r>
          </a:p>
        </p:txBody>
      </p:sp>
      <p:sp>
        <p:nvSpPr>
          <p:cNvPr id="23" name="Rect 23"/>
          <p:cNvSpPr/>
          <p:nvPr/>
        </p:nvSpPr>
        <p:spPr>
          <a:xfrm>
            <a:off x="320040" y="2167128"/>
            <a:ext cx="9601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320040" y="2167128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25" name="Rect 25"/>
          <p:cNvSpPr/>
          <p:nvPr/>
        </p:nvSpPr>
        <p:spPr>
          <a:xfrm>
            <a:off x="1280160" y="2167128"/>
            <a:ext cx="7315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280160" y="2167128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27" name="Rect 27"/>
          <p:cNvSpPr/>
          <p:nvPr/>
        </p:nvSpPr>
        <p:spPr>
          <a:xfrm>
            <a:off x="2011680" y="2167128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2011680" y="2167128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22.7%</a:t>
            </a:r>
          </a:p>
        </p:txBody>
      </p:sp>
      <p:sp>
        <p:nvSpPr>
          <p:cNvPr id="29" name="Rect 29"/>
          <p:cNvSpPr/>
          <p:nvPr/>
        </p:nvSpPr>
        <p:spPr>
          <a:xfrm>
            <a:off x="2788920" y="2167128"/>
            <a:ext cx="82296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2788920" y="2167128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+2.7 pts</a:t>
            </a:r>
          </a:p>
        </p:txBody>
      </p:sp>
      <p:sp>
        <p:nvSpPr>
          <p:cNvPr id="31" name="Rect 31"/>
          <p:cNvSpPr/>
          <p:nvPr/>
        </p:nvSpPr>
        <p:spPr>
          <a:xfrm>
            <a:off x="320040" y="2414016"/>
            <a:ext cx="9601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320040" y="2414016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33" name="Rect 33"/>
          <p:cNvSpPr/>
          <p:nvPr/>
        </p:nvSpPr>
        <p:spPr>
          <a:xfrm>
            <a:off x="1280160" y="2414016"/>
            <a:ext cx="7315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280160" y="2414016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35" name="Rect 35"/>
          <p:cNvSpPr/>
          <p:nvPr/>
        </p:nvSpPr>
        <p:spPr>
          <a:xfrm>
            <a:off x="2011680" y="2414016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2011680" y="2414016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9.2%</a:t>
            </a:r>
          </a:p>
        </p:txBody>
      </p:sp>
      <p:sp>
        <p:nvSpPr>
          <p:cNvPr id="37" name="Rect 37"/>
          <p:cNvSpPr/>
          <p:nvPr/>
        </p:nvSpPr>
        <p:spPr>
          <a:xfrm>
            <a:off x="2788920" y="2414016"/>
            <a:ext cx="82296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2788920" y="2414016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-10.8 pts</a:t>
            </a:r>
          </a:p>
        </p:txBody>
      </p:sp>
      <p:sp>
        <p:nvSpPr>
          <p:cNvPr id="39" name="Rect 39"/>
          <p:cNvSpPr/>
          <p:nvPr/>
        </p:nvSpPr>
        <p:spPr>
          <a:xfrm>
            <a:off x="320040" y="2660904"/>
            <a:ext cx="9601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320040" y="2660904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41" name="Rect 41"/>
          <p:cNvSpPr/>
          <p:nvPr/>
        </p:nvSpPr>
        <p:spPr>
          <a:xfrm>
            <a:off x="1280160" y="2660904"/>
            <a:ext cx="73152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280160" y="2660904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43" name="Rect 43"/>
          <p:cNvSpPr/>
          <p:nvPr/>
        </p:nvSpPr>
        <p:spPr>
          <a:xfrm>
            <a:off x="2011680" y="2660904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2011680" y="2660904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-52.2%</a:t>
            </a:r>
          </a:p>
        </p:txBody>
      </p:sp>
      <p:sp>
        <p:nvSpPr>
          <p:cNvPr id="45" name="Rect 45"/>
          <p:cNvSpPr/>
          <p:nvPr/>
        </p:nvSpPr>
        <p:spPr>
          <a:xfrm>
            <a:off x="2788920" y="2660904"/>
            <a:ext cx="82296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2788920" y="2660904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-72.2 pts</a:t>
            </a:r>
          </a:p>
        </p:txBody>
      </p:sp>
      <p:sp>
        <p:nvSpPr>
          <p:cNvPr id="47" name="Rect 47"/>
          <p:cNvSpPr/>
          <p:nvPr/>
        </p:nvSpPr>
        <p:spPr>
          <a:xfrm>
            <a:off x="320040" y="2907792"/>
            <a:ext cx="9601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320040" y="2907792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49" name="Rect 49"/>
          <p:cNvSpPr/>
          <p:nvPr/>
        </p:nvSpPr>
        <p:spPr>
          <a:xfrm>
            <a:off x="1280160" y="2907792"/>
            <a:ext cx="73152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1280160" y="2907792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51" name="Rect 51"/>
          <p:cNvSpPr/>
          <p:nvPr/>
        </p:nvSpPr>
        <p:spPr>
          <a:xfrm>
            <a:off x="2011680" y="2907792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011680" y="290779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0.2%</a:t>
            </a:r>
          </a:p>
        </p:txBody>
      </p:sp>
      <p:sp>
        <p:nvSpPr>
          <p:cNvPr id="53" name="Rect 53"/>
          <p:cNvSpPr/>
          <p:nvPr/>
        </p:nvSpPr>
        <p:spPr>
          <a:xfrm>
            <a:off x="2788920" y="2907792"/>
            <a:ext cx="82296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2788920" y="2907792"/>
            <a:ext cx="82296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-19.8 pts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977639" y="13990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KEY RISK RATIOS</a:t>
            </a:r>
          </a:p>
        </p:txBody>
      </p:sp>
      <p:sp>
        <p:nvSpPr>
          <p:cNvPr id="56" name="Rect 56"/>
          <p:cNvSpPr/>
          <p:nvPr/>
        </p:nvSpPr>
        <p:spPr>
          <a:xfrm>
            <a:off x="3977639" y="1673352"/>
            <a:ext cx="132588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3977639" y="16733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Metric</a:t>
            </a:r>
          </a:p>
        </p:txBody>
      </p:sp>
      <p:sp>
        <p:nvSpPr>
          <p:cNvPr id="58" name="Rect 58"/>
          <p:cNvSpPr/>
          <p:nvPr/>
        </p:nvSpPr>
        <p:spPr>
          <a:xfrm>
            <a:off x="5303520" y="1673352"/>
            <a:ext cx="1143000" cy="274320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5303520" y="167335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Value</a:t>
            </a:r>
          </a:p>
        </p:txBody>
      </p:sp>
      <p:sp>
        <p:nvSpPr>
          <p:cNvPr id="60" name="Rect 60"/>
          <p:cNvSpPr/>
          <p:nvPr/>
        </p:nvSpPr>
        <p:spPr>
          <a:xfrm>
            <a:off x="3977639" y="1947672"/>
            <a:ext cx="13258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3977639" y="194767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Ann. Return</a:t>
            </a:r>
          </a:p>
        </p:txBody>
      </p:sp>
      <p:sp>
        <p:nvSpPr>
          <p:cNvPr id="62" name="Rect 62"/>
          <p:cNvSpPr/>
          <p:nvPr/>
        </p:nvSpPr>
        <p:spPr>
          <a:xfrm>
            <a:off x="5303520" y="1947672"/>
            <a:ext cx="1143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5303520" y="194767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6.02%</a:t>
            </a:r>
          </a:p>
        </p:txBody>
      </p:sp>
      <p:sp>
        <p:nvSpPr>
          <p:cNvPr id="64" name="Rect 64"/>
          <p:cNvSpPr/>
          <p:nvPr/>
        </p:nvSpPr>
        <p:spPr>
          <a:xfrm>
            <a:off x="3977639" y="2221992"/>
            <a:ext cx="132588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3977639" y="222199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Ann. Vol</a:t>
            </a:r>
          </a:p>
        </p:txBody>
      </p:sp>
      <p:sp>
        <p:nvSpPr>
          <p:cNvPr id="66" name="Rect 66"/>
          <p:cNvSpPr/>
          <p:nvPr/>
        </p:nvSpPr>
        <p:spPr>
          <a:xfrm>
            <a:off x="5303520" y="2221992"/>
            <a:ext cx="11430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5303520" y="222199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5.88%</a:t>
            </a:r>
          </a:p>
        </p:txBody>
      </p:sp>
      <p:sp>
        <p:nvSpPr>
          <p:cNvPr id="68" name="Rect 68"/>
          <p:cNvSpPr/>
          <p:nvPr/>
        </p:nvSpPr>
        <p:spPr>
          <a:xfrm>
            <a:off x="3977639" y="2496312"/>
            <a:ext cx="13258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9"/>
          <p:cNvSpPr txBox="1"/>
          <p:nvPr/>
        </p:nvSpPr>
        <p:spPr>
          <a:xfrm>
            <a:off x="3977639" y="249631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Sharpe</a:t>
            </a:r>
          </a:p>
        </p:txBody>
      </p:sp>
      <p:sp>
        <p:nvSpPr>
          <p:cNvPr id="70" name="Rect 70"/>
          <p:cNvSpPr/>
          <p:nvPr/>
        </p:nvSpPr>
        <p:spPr>
          <a:xfrm>
            <a:off x="5303520" y="2496312"/>
            <a:ext cx="1143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5303520" y="249631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0.589</a:t>
            </a:r>
          </a:p>
        </p:txBody>
      </p:sp>
      <p:sp>
        <p:nvSpPr>
          <p:cNvPr id="72" name="Rect 72"/>
          <p:cNvSpPr/>
          <p:nvPr/>
        </p:nvSpPr>
        <p:spPr>
          <a:xfrm>
            <a:off x="3977639" y="2770632"/>
            <a:ext cx="132588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 73"/>
          <p:cNvSpPr txBox="1"/>
          <p:nvPr/>
        </p:nvSpPr>
        <p:spPr>
          <a:xfrm>
            <a:off x="3977639" y="277063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 vs Current</a:t>
            </a:r>
          </a:p>
        </p:txBody>
      </p:sp>
      <p:sp>
        <p:nvSpPr>
          <p:cNvPr id="74" name="Rect 74"/>
          <p:cNvSpPr/>
          <p:nvPr/>
        </p:nvSpPr>
        <p:spPr>
          <a:xfrm>
            <a:off x="5303520" y="2770632"/>
            <a:ext cx="11430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5"/>
          <p:cNvSpPr txBox="1"/>
          <p:nvPr/>
        </p:nvSpPr>
        <p:spPr>
          <a:xfrm>
            <a:off x="5303520" y="277063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5.65%</a:t>
            </a:r>
          </a:p>
        </p:txBody>
      </p:sp>
      <p:sp>
        <p:nvSpPr>
          <p:cNvPr id="76" name="Rect 76"/>
          <p:cNvSpPr/>
          <p:nvPr/>
        </p:nvSpPr>
        <p:spPr>
          <a:xfrm>
            <a:off x="3977639" y="3044952"/>
            <a:ext cx="13258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 77"/>
          <p:cNvSpPr txBox="1"/>
          <p:nvPr/>
        </p:nvSpPr>
        <p:spPr>
          <a:xfrm>
            <a:off x="3977639" y="30449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Worst DD</a:t>
            </a:r>
          </a:p>
        </p:txBody>
      </p:sp>
      <p:sp>
        <p:nvSpPr>
          <p:cNvPr id="78" name="Rect 78"/>
          <p:cNvSpPr/>
          <p:nvPr/>
        </p:nvSpPr>
        <p:spPr>
          <a:xfrm>
            <a:off x="5303520" y="3044952"/>
            <a:ext cx="1143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 79"/>
          <p:cNvSpPr txBox="1"/>
          <p:nvPr/>
        </p:nvSpPr>
        <p:spPr>
          <a:xfrm>
            <a:off x="5303520" y="304495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-15.0%</a:t>
            </a:r>
          </a:p>
        </p:txBody>
      </p:sp>
      <p:sp>
        <p:nvSpPr>
          <p:cNvPr id="80" name="Rect 80"/>
          <p:cNvSpPr/>
          <p:nvPr/>
        </p:nvSpPr>
        <p:spPr>
          <a:xfrm>
            <a:off x="3977639" y="3319272"/>
            <a:ext cx="132588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3977639" y="331927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Gross Exposure</a:t>
            </a:r>
          </a:p>
        </p:txBody>
      </p:sp>
      <p:sp>
        <p:nvSpPr>
          <p:cNvPr id="82" name="Rect 82"/>
          <p:cNvSpPr/>
          <p:nvPr/>
        </p:nvSpPr>
        <p:spPr>
          <a:xfrm>
            <a:off x="5303520" y="3319272"/>
            <a:ext cx="1143000" cy="274320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3"/>
          <p:cNvSpPr txBox="1"/>
          <p:nvPr/>
        </p:nvSpPr>
        <p:spPr>
          <a:xfrm>
            <a:off x="5303520" y="331927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2.04x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812280" y="139903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TOP FACTOR TRC (INFO)</a:t>
            </a:r>
          </a:p>
        </p:txBody>
      </p:sp>
      <p:sp>
        <p:nvSpPr>
          <p:cNvPr id="85" name="Rect 85"/>
          <p:cNvSpPr/>
          <p:nvPr/>
        </p:nvSpPr>
        <p:spPr>
          <a:xfrm>
            <a:off x="6812280" y="1673352"/>
            <a:ext cx="182880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Box 86"/>
          <p:cNvSpPr txBox="1"/>
          <p:nvPr/>
        </p:nvSpPr>
        <p:spPr>
          <a:xfrm>
            <a:off x="6812280" y="167335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Factor</a:t>
            </a:r>
          </a:p>
        </p:txBody>
      </p:sp>
      <p:sp>
        <p:nvSpPr>
          <p:cNvPr id="87" name="Rect 87"/>
          <p:cNvSpPr/>
          <p:nvPr/>
        </p:nvSpPr>
        <p:spPr>
          <a:xfrm>
            <a:off x="8641080" y="1673352"/>
            <a:ext cx="77724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 88"/>
          <p:cNvSpPr txBox="1"/>
          <p:nvPr/>
        </p:nvSpPr>
        <p:spPr>
          <a:xfrm>
            <a:off x="8641080" y="167335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TRC</a:t>
            </a:r>
          </a:p>
        </p:txBody>
      </p:sp>
      <p:sp>
        <p:nvSpPr>
          <p:cNvPr id="89" name="Rect 89"/>
          <p:cNvSpPr/>
          <p:nvPr/>
        </p:nvSpPr>
        <p:spPr>
          <a:xfrm>
            <a:off x="9418319" y="1673352"/>
            <a:ext cx="914400" cy="246888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Box 90"/>
          <p:cNvSpPr txBox="1"/>
          <p:nvPr/>
        </p:nvSpPr>
        <p:spPr>
          <a:xfrm>
            <a:off x="9418319" y="1673352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Bucket</a:t>
            </a:r>
          </a:p>
        </p:txBody>
      </p:sp>
      <p:sp>
        <p:nvSpPr>
          <p:cNvPr id="91" name="Rect 91"/>
          <p:cNvSpPr/>
          <p:nvPr/>
        </p:nvSpPr>
        <p:spPr>
          <a:xfrm>
            <a:off x="6812280" y="1920240"/>
            <a:ext cx="1828800" cy="246888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 92"/>
          <p:cNvSpPr txBox="1"/>
          <p:nvPr/>
        </p:nvSpPr>
        <p:spPr>
          <a:xfrm>
            <a:off x="6812280" y="192024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Growth</a:t>
            </a:r>
          </a:p>
        </p:txBody>
      </p:sp>
      <p:sp>
        <p:nvSpPr>
          <p:cNvPr id="93" name="Rect 93"/>
          <p:cNvSpPr/>
          <p:nvPr/>
        </p:nvSpPr>
        <p:spPr>
          <a:xfrm>
            <a:off x="8641080" y="1920240"/>
            <a:ext cx="777240" cy="246888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 94"/>
          <p:cNvSpPr txBox="1"/>
          <p:nvPr/>
        </p:nvSpPr>
        <p:spPr>
          <a:xfrm>
            <a:off x="8641080" y="1920240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71.0%</a:t>
            </a:r>
          </a:p>
        </p:txBody>
      </p:sp>
      <p:sp>
        <p:nvSpPr>
          <p:cNvPr id="95" name="Rect 95"/>
          <p:cNvSpPr/>
          <p:nvPr/>
        </p:nvSpPr>
        <p:spPr>
          <a:xfrm>
            <a:off x="9418319" y="1920240"/>
            <a:ext cx="914400" cy="246888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 96"/>
          <p:cNvSpPr txBox="1"/>
          <p:nvPr/>
        </p:nvSpPr>
        <p:spPr>
          <a:xfrm>
            <a:off x="9418319" y="192024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Equity</a:t>
            </a:r>
          </a:p>
        </p:txBody>
      </p:sp>
      <p:sp>
        <p:nvSpPr>
          <p:cNvPr id="97" name="Rect 97"/>
          <p:cNvSpPr/>
          <p:nvPr/>
        </p:nvSpPr>
        <p:spPr>
          <a:xfrm>
            <a:off x="6812280" y="2167128"/>
            <a:ext cx="18288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Box 98"/>
          <p:cNvSpPr txBox="1"/>
          <p:nvPr/>
        </p:nvSpPr>
        <p:spPr>
          <a:xfrm>
            <a:off x="6812280" y="216712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US AGG</a:t>
            </a:r>
          </a:p>
        </p:txBody>
      </p:sp>
      <p:sp>
        <p:nvSpPr>
          <p:cNvPr id="99" name="Rect 99"/>
          <p:cNvSpPr/>
          <p:nvPr/>
        </p:nvSpPr>
        <p:spPr>
          <a:xfrm>
            <a:off x="8641080" y="2167128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 100"/>
          <p:cNvSpPr txBox="1"/>
          <p:nvPr/>
        </p:nvSpPr>
        <p:spPr>
          <a:xfrm>
            <a:off x="8641080" y="2167128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32.2%</a:t>
            </a:r>
          </a:p>
        </p:txBody>
      </p:sp>
      <p:sp>
        <p:nvSpPr>
          <p:cNvPr id="101" name="Rect 101"/>
          <p:cNvSpPr/>
          <p:nvPr/>
        </p:nvSpPr>
        <p:spPr>
          <a:xfrm>
            <a:off x="9418319" y="2167128"/>
            <a:ext cx="9144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2"/>
          <p:cNvSpPr txBox="1"/>
          <p:nvPr/>
        </p:nvSpPr>
        <p:spPr>
          <a:xfrm>
            <a:off x="9418319" y="2167128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Rates</a:t>
            </a:r>
          </a:p>
        </p:txBody>
      </p:sp>
      <p:sp>
        <p:nvSpPr>
          <p:cNvPr id="103" name="Rect 103"/>
          <p:cNvSpPr/>
          <p:nvPr/>
        </p:nvSpPr>
        <p:spPr>
          <a:xfrm>
            <a:off x="6812280" y="2414016"/>
            <a:ext cx="1828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6812280" y="2414016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HF FOF Div</a:t>
            </a:r>
          </a:p>
        </p:txBody>
      </p:sp>
      <p:sp>
        <p:nvSpPr>
          <p:cNvPr id="105" name="Rect 105"/>
          <p:cNvSpPr/>
          <p:nvPr/>
        </p:nvSpPr>
        <p:spPr>
          <a:xfrm>
            <a:off x="8641080" y="2414016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 106"/>
          <p:cNvSpPr txBox="1"/>
          <p:nvPr/>
        </p:nvSpPr>
        <p:spPr>
          <a:xfrm>
            <a:off x="8641080" y="2414016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-14.9%</a:t>
            </a:r>
          </a:p>
        </p:txBody>
      </p:sp>
      <p:sp>
        <p:nvSpPr>
          <p:cNvPr id="107" name="Rect 107"/>
          <p:cNvSpPr/>
          <p:nvPr/>
        </p:nvSpPr>
        <p:spPr>
          <a:xfrm>
            <a:off x="9418319" y="2414016"/>
            <a:ext cx="914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8"/>
          <p:cNvSpPr txBox="1"/>
          <p:nvPr/>
        </p:nvSpPr>
        <p:spPr>
          <a:xfrm>
            <a:off x="9418319" y="24140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Alternatives</a:t>
            </a:r>
          </a:p>
        </p:txBody>
      </p:sp>
      <p:sp>
        <p:nvSpPr>
          <p:cNvPr id="109" name="Rect 109"/>
          <p:cNvSpPr/>
          <p:nvPr/>
        </p:nvSpPr>
        <p:spPr>
          <a:xfrm>
            <a:off x="6812280" y="2660904"/>
            <a:ext cx="18288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Box 110"/>
          <p:cNvSpPr txBox="1"/>
          <p:nvPr/>
        </p:nvSpPr>
        <p:spPr>
          <a:xfrm>
            <a:off x="6812280" y="266090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Long Short HF</a:t>
            </a:r>
          </a:p>
        </p:txBody>
      </p:sp>
      <p:sp>
        <p:nvSpPr>
          <p:cNvPr id="111" name="Rect 111"/>
          <p:cNvSpPr/>
          <p:nvPr/>
        </p:nvSpPr>
        <p:spPr>
          <a:xfrm>
            <a:off x="8641080" y="2660904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 112"/>
          <p:cNvSpPr txBox="1"/>
          <p:nvPr/>
        </p:nvSpPr>
        <p:spPr>
          <a:xfrm>
            <a:off x="8641080" y="2660904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14.1%</a:t>
            </a:r>
          </a:p>
        </p:txBody>
      </p:sp>
      <p:sp>
        <p:nvSpPr>
          <p:cNvPr id="113" name="Rect 113"/>
          <p:cNvSpPr/>
          <p:nvPr/>
        </p:nvSpPr>
        <p:spPr>
          <a:xfrm>
            <a:off x="9418319" y="2660904"/>
            <a:ext cx="9144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4"/>
          <p:cNvSpPr txBox="1"/>
          <p:nvPr/>
        </p:nvSpPr>
        <p:spPr>
          <a:xfrm>
            <a:off x="9418319" y="2660904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Alternatives</a:t>
            </a:r>
          </a:p>
        </p:txBody>
      </p:sp>
      <p:sp>
        <p:nvSpPr>
          <p:cNvPr id="115" name="Rect 115"/>
          <p:cNvSpPr/>
          <p:nvPr/>
        </p:nvSpPr>
        <p:spPr>
          <a:xfrm>
            <a:off x="6812280" y="2907792"/>
            <a:ext cx="18288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Box 116"/>
          <p:cNvSpPr txBox="1"/>
          <p:nvPr/>
        </p:nvSpPr>
        <p:spPr>
          <a:xfrm>
            <a:off x="6812280" y="290779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High Yield</a:t>
            </a:r>
          </a:p>
        </p:txBody>
      </p:sp>
      <p:sp>
        <p:nvSpPr>
          <p:cNvPr id="117" name="Rect 117"/>
          <p:cNvSpPr/>
          <p:nvPr/>
        </p:nvSpPr>
        <p:spPr>
          <a:xfrm>
            <a:off x="8641080" y="2907792"/>
            <a:ext cx="77724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Box 118"/>
          <p:cNvSpPr txBox="1"/>
          <p:nvPr/>
        </p:nvSpPr>
        <p:spPr>
          <a:xfrm>
            <a:off x="8641080" y="290779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6.0%</a:t>
            </a:r>
          </a:p>
        </p:txBody>
      </p:sp>
      <p:sp>
        <p:nvSpPr>
          <p:cNvPr id="119" name="Rect 119"/>
          <p:cNvSpPr/>
          <p:nvPr/>
        </p:nvSpPr>
        <p:spPr>
          <a:xfrm>
            <a:off x="9418319" y="2907792"/>
            <a:ext cx="914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 120"/>
          <p:cNvSpPr txBox="1"/>
          <p:nvPr/>
        </p:nvSpPr>
        <p:spPr>
          <a:xfrm>
            <a:off x="9418319" y="2907792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Credit</a:t>
            </a:r>
          </a:p>
        </p:txBody>
      </p:sp>
      <p:sp>
        <p:nvSpPr>
          <p:cNvPr id="121" name="Rect 121"/>
          <p:cNvSpPr/>
          <p:nvPr/>
        </p:nvSpPr>
        <p:spPr>
          <a:xfrm>
            <a:off x="6812280" y="3154680"/>
            <a:ext cx="18288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Box 122"/>
          <p:cNvSpPr txBox="1"/>
          <p:nvPr/>
        </p:nvSpPr>
        <p:spPr>
          <a:xfrm>
            <a:off x="6812280" y="315468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Global AGG</a:t>
            </a:r>
          </a:p>
        </p:txBody>
      </p:sp>
      <p:sp>
        <p:nvSpPr>
          <p:cNvPr id="123" name="Rect 123"/>
          <p:cNvSpPr/>
          <p:nvPr/>
        </p:nvSpPr>
        <p:spPr>
          <a:xfrm>
            <a:off x="8641080" y="3154680"/>
            <a:ext cx="77724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Box 124"/>
          <p:cNvSpPr txBox="1"/>
          <p:nvPr/>
        </p:nvSpPr>
        <p:spPr>
          <a:xfrm>
            <a:off x="8641080" y="3154680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-4.8%</a:t>
            </a:r>
          </a:p>
        </p:txBody>
      </p:sp>
      <p:sp>
        <p:nvSpPr>
          <p:cNvPr id="125" name="Rect 125"/>
          <p:cNvSpPr/>
          <p:nvPr/>
        </p:nvSpPr>
        <p:spPr>
          <a:xfrm>
            <a:off x="9418319" y="3154680"/>
            <a:ext cx="914400" cy="246888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9418319" y="315468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Rates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320040" y="3456432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TOTAL RISK CONTRIBUTION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320040" y="3767328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129" name="Rect 129"/>
          <p:cNvSpPr/>
          <p:nvPr/>
        </p:nvSpPr>
        <p:spPr>
          <a:xfrm>
            <a:off x="1097280" y="3794760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 130"/>
          <p:cNvSpPr/>
          <p:nvPr/>
        </p:nvSpPr>
        <p:spPr>
          <a:xfrm>
            <a:off x="1097280" y="3794760"/>
            <a:ext cx="1333965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 131"/>
          <p:cNvSpPr txBox="1"/>
          <p:nvPr/>
        </p:nvSpPr>
        <p:spPr>
          <a:xfrm>
            <a:off x="4681728" y="376732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21.7%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320040" y="409651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133" name="Rect 133"/>
          <p:cNvSpPr/>
          <p:nvPr/>
        </p:nvSpPr>
        <p:spPr>
          <a:xfrm>
            <a:off x="1097280" y="4123944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Rect 134"/>
          <p:cNvSpPr/>
          <p:nvPr/>
        </p:nvSpPr>
        <p:spPr>
          <a:xfrm>
            <a:off x="1097280" y="4123944"/>
            <a:ext cx="3246120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5"/>
          <p:cNvSpPr txBox="1"/>
          <p:nvPr/>
        </p:nvSpPr>
        <p:spPr>
          <a:xfrm>
            <a:off x="4681728" y="4096512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52.7%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20040" y="4425696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137" name="Rect 137"/>
          <p:cNvSpPr/>
          <p:nvPr/>
        </p:nvSpPr>
        <p:spPr>
          <a:xfrm>
            <a:off x="1097280" y="4453128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Rect 138"/>
          <p:cNvSpPr/>
          <p:nvPr/>
        </p:nvSpPr>
        <p:spPr>
          <a:xfrm>
            <a:off x="1097280" y="4453128"/>
            <a:ext cx="1299852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Box 139"/>
          <p:cNvSpPr txBox="1"/>
          <p:nvPr/>
        </p:nvSpPr>
        <p:spPr>
          <a:xfrm>
            <a:off x="4681728" y="442569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21.1%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20040" y="4754880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141" name="Rect 141"/>
          <p:cNvSpPr/>
          <p:nvPr/>
        </p:nvSpPr>
        <p:spPr>
          <a:xfrm>
            <a:off x="1097280" y="4782312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Rect 142"/>
          <p:cNvSpPr/>
          <p:nvPr/>
        </p:nvSpPr>
        <p:spPr>
          <a:xfrm>
            <a:off x="1097280" y="4782312"/>
            <a:ext cx="266976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Box 143"/>
          <p:cNvSpPr txBox="1"/>
          <p:nvPr/>
        </p:nvSpPr>
        <p:spPr>
          <a:xfrm>
            <a:off x="4681728" y="4754880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4.3%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320040" y="508406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145" name="Rect 145"/>
          <p:cNvSpPr/>
          <p:nvPr/>
        </p:nvSpPr>
        <p:spPr>
          <a:xfrm>
            <a:off x="1097280" y="5111496"/>
            <a:ext cx="3246120" cy="137160"/>
          </a:xfrm>
          <a:prstGeom prst="rect">
            <a:avLst/>
          </a:prstGeom>
          <a:solidFill>
            <a:srgbClr val="E7E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Rect 146"/>
          <p:cNvSpPr/>
          <p:nvPr/>
        </p:nvSpPr>
        <p:spPr>
          <a:xfrm>
            <a:off x="1097280" y="5111496"/>
            <a:ext cx="8276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Box 147"/>
          <p:cNvSpPr txBox="1"/>
          <p:nvPr/>
        </p:nvSpPr>
        <p:spPr>
          <a:xfrm>
            <a:off x="4681728" y="508406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0.1%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097280" y="5468112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666666"/>
                </a:solidFill>
                <a:latin typeface="Georgia"/>
                <a:ea typeface="Georgia"/>
                <a:cs typeface="Georgia"/>
              </a:rPr>
              <a:t>Asset TRC shows each asset's share of total portfolio variance.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5806440" y="3730752"/>
            <a:ext cx="5715000" cy="621792"/>
          </a:xfrm>
          <a:prstGeom prst="rect">
            <a:avLst/>
          </a:prstGeom>
          <a:solidFill>
            <a:srgbClr val="F7F7FA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Factor model input: Average filtered Kalman beta, 2004-01-31 to 2013-12-31. Averaging filtered betas smooths single-date Kalman noise and uses only information available by 12/31/2013.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806440" y="4553712"/>
            <a:ext cx="5715000" cy="1143000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404040"/>
                </a:solidFill>
                <a:latin typeface="Georgia"/>
                <a:ea typeface="Georgia"/>
                <a:cs typeface="Georgia"/>
              </a:rPr>
              <a:t>Client goal check: projected wealth is $23.00mm versus $23.00mm target; historical worst wealth drawdown is -15.0% of initial wealth versus the -15.0% limit. This requires relaxing assignment factor/asset TRC caps and using 2.04x gross long/short exposure.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5074920" y="6528816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QFGB 8948 - Team Portfolio Project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4A</a:t>
            </a:r>
          </a:p>
        </p:txBody>
      </p:sp>
      <p:sp>
        <p:nvSpPr>
          <p:cNvPr id="9000" name="Rect 9000"/>
          <p:cNvSpPr/>
          <p:nvPr/>
        </p:nvSpPr>
        <p:spPr>
          <a:xfrm>
            <a:off x="0" y="0"/>
            <a:ext cx="12191695" cy="1362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Rect 900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TextBox 9002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4B — Client-Constrained MVO</a:t>
            </a:r>
          </a:p>
        </p:txBody>
      </p:sp>
      <p:sp>
        <p:nvSpPr>
          <p:cNvPr id="9003" name="TextBox 9003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Relaxed assignment risk caps so the final recommendation satisfies the client's return and drawdown goals.</a:t>
            </a:r>
          </a:p>
        </p:txBody>
      </p:sp>
      <p:sp>
        <p:nvSpPr>
          <p:cNvPr id="9004" name="TextBox 9004"/>
          <p:cNvSpPr txBox="1"/>
          <p:nvPr/>
        </p:nvSpPr>
        <p:spPr>
          <a:xfrm>
            <a:off x="320040" y="1078992"/>
            <a:ext cx="1152144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Objective: maximize Sharpe | exact wealth-target return | historical drawdown &gt;= -15% of initial wealth | factor/asset TRC caps relaxed | gross &lt;= 2.10x</a:t>
            </a:r>
          </a:p>
        </p:txBody>
      </p:sp>
      <p:sp>
        <p:nvSpPr>
          <p:cNvPr id="9005" name="Rect 9005"/>
          <p:cNvSpPr/>
          <p:nvPr/>
        </p:nvSpPr>
        <p:spPr>
          <a:xfrm>
            <a:off x="0" y="6419088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6" name="TextBox 900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9007" name="TextBox 900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4A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5 — Risk Parity Proposal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Long-only risk-control alternatives from teammate rolling 36-month Risk Parity analysis.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" y="1115568"/>
            <a:ext cx="11521440" cy="420624"/>
          </a:xfrm>
          <a:prstGeom prst="rect">
            <a:avLst/>
          </a:prstGeom>
          <a:solidFill>
            <a:srgbClr val="EBF8FF"/>
          </a:solidFill>
          <a:ln>
            <a:solidFill>
              <a:srgbClr val="A0AEC0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Purpose: test whether long-only risk budgeting can reduce drawdown without the leverage/shorting required by the client-constrained MVO.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" y="1664208"/>
            <a:ext cx="598932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ROLLING BACKTEST SUMMARY (JAN 2007-DEC 2013)</a:t>
            </a:r>
          </a:p>
        </p:txBody>
      </p:sp>
      <p:sp>
        <p:nvSpPr>
          <p:cNvPr id="10" name="Rect 10"/>
          <p:cNvSpPr/>
          <p:nvPr/>
        </p:nvSpPr>
        <p:spPr>
          <a:xfrm>
            <a:off x="320040" y="1993392"/>
            <a:ext cx="132588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20040" y="1993392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Method</a:t>
            </a:r>
          </a:p>
        </p:txBody>
      </p:sp>
      <p:sp>
        <p:nvSpPr>
          <p:cNvPr id="12" name="Rect 12"/>
          <p:cNvSpPr/>
          <p:nvPr/>
        </p:nvSpPr>
        <p:spPr>
          <a:xfrm>
            <a:off x="1645919" y="1993392"/>
            <a:ext cx="77724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45919" y="1993392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Ret</a:t>
            </a:r>
          </a:p>
        </p:txBody>
      </p:sp>
      <p:sp>
        <p:nvSpPr>
          <p:cNvPr id="14" name="Rect 14"/>
          <p:cNvSpPr/>
          <p:nvPr/>
        </p:nvSpPr>
        <p:spPr>
          <a:xfrm>
            <a:off x="2423160" y="1993392"/>
            <a:ext cx="73152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423160" y="1993392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Vol</a:t>
            </a:r>
          </a:p>
        </p:txBody>
      </p:sp>
      <p:sp>
        <p:nvSpPr>
          <p:cNvPr id="16" name="Rect 16"/>
          <p:cNvSpPr/>
          <p:nvPr/>
        </p:nvSpPr>
        <p:spPr>
          <a:xfrm>
            <a:off x="3154680" y="1993392"/>
            <a:ext cx="68580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3154680" y="1993392"/>
            <a:ext cx="6858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Sharpe</a:t>
            </a:r>
          </a:p>
        </p:txBody>
      </p:sp>
      <p:sp>
        <p:nvSpPr>
          <p:cNvPr id="18" name="Rect 18"/>
          <p:cNvSpPr/>
          <p:nvPr/>
        </p:nvSpPr>
        <p:spPr>
          <a:xfrm>
            <a:off x="3840480" y="1993392"/>
            <a:ext cx="77724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840480" y="1993392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Max DD</a:t>
            </a:r>
          </a:p>
        </p:txBody>
      </p:sp>
      <p:sp>
        <p:nvSpPr>
          <p:cNvPr id="20" name="Rect 20"/>
          <p:cNvSpPr/>
          <p:nvPr/>
        </p:nvSpPr>
        <p:spPr>
          <a:xfrm>
            <a:off x="4617720" y="1993392"/>
            <a:ext cx="73152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4617720" y="1993392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</a:t>
            </a:r>
          </a:p>
        </p:txBody>
      </p:sp>
      <p:sp>
        <p:nvSpPr>
          <p:cNvPr id="22" name="Rect 22"/>
          <p:cNvSpPr/>
          <p:nvPr/>
        </p:nvSpPr>
        <p:spPr>
          <a:xfrm>
            <a:off x="5349240" y="1993392"/>
            <a:ext cx="77724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349240" y="1993392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Largest TRC</a:t>
            </a:r>
          </a:p>
        </p:txBody>
      </p:sp>
      <p:sp>
        <p:nvSpPr>
          <p:cNvPr id="24" name="Rect 24"/>
          <p:cNvSpPr/>
          <p:nvPr/>
        </p:nvSpPr>
        <p:spPr>
          <a:xfrm>
            <a:off x="320040" y="2276856"/>
            <a:ext cx="13258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320040" y="2276856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Equal Weight</a:t>
            </a:r>
          </a:p>
        </p:txBody>
      </p:sp>
      <p:sp>
        <p:nvSpPr>
          <p:cNvPr id="26" name="Rect 26"/>
          <p:cNvSpPr/>
          <p:nvPr/>
        </p:nvSpPr>
        <p:spPr>
          <a:xfrm>
            <a:off x="1645919" y="2276856"/>
            <a:ext cx="77724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645919" y="2276856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4.25%</a:t>
            </a:r>
          </a:p>
        </p:txBody>
      </p:sp>
      <p:sp>
        <p:nvSpPr>
          <p:cNvPr id="28" name="Rect 28"/>
          <p:cNvSpPr/>
          <p:nvPr/>
        </p:nvSpPr>
        <p:spPr>
          <a:xfrm>
            <a:off x="2423160" y="2276856"/>
            <a:ext cx="73152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423160" y="2276856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9.14%</a:t>
            </a:r>
          </a:p>
        </p:txBody>
      </p:sp>
      <p:sp>
        <p:nvSpPr>
          <p:cNvPr id="30" name="Rect 30"/>
          <p:cNvSpPr/>
          <p:nvPr/>
        </p:nvSpPr>
        <p:spPr>
          <a:xfrm>
            <a:off x="3154680" y="2276856"/>
            <a:ext cx="68580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3154680" y="2276856"/>
            <a:ext cx="6858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0.357</a:t>
            </a:r>
          </a:p>
        </p:txBody>
      </p:sp>
      <p:sp>
        <p:nvSpPr>
          <p:cNvPr id="32" name="Rect 32"/>
          <p:cNvSpPr/>
          <p:nvPr/>
        </p:nvSpPr>
        <p:spPr>
          <a:xfrm>
            <a:off x="3840480" y="2276856"/>
            <a:ext cx="77724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3840480" y="2276856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-23.66%</a:t>
            </a:r>
          </a:p>
        </p:txBody>
      </p:sp>
      <p:sp>
        <p:nvSpPr>
          <p:cNvPr id="34" name="Rect 34"/>
          <p:cNvSpPr/>
          <p:nvPr/>
        </p:nvSpPr>
        <p:spPr>
          <a:xfrm>
            <a:off x="4617720" y="2276856"/>
            <a:ext cx="73152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4617720" y="2276856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0.00%</a:t>
            </a:r>
          </a:p>
        </p:txBody>
      </p:sp>
      <p:sp>
        <p:nvSpPr>
          <p:cNvPr id="36" name="Rect 36"/>
          <p:cNvSpPr/>
          <p:nvPr/>
        </p:nvSpPr>
        <p:spPr>
          <a:xfrm>
            <a:off x="5349240" y="2276856"/>
            <a:ext cx="77724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5349240" y="2276856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54.6%</a:t>
            </a:r>
          </a:p>
        </p:txBody>
      </p:sp>
      <p:sp>
        <p:nvSpPr>
          <p:cNvPr id="38" name="Rect 38"/>
          <p:cNvSpPr/>
          <p:nvPr/>
        </p:nvSpPr>
        <p:spPr>
          <a:xfrm>
            <a:off x="320040" y="2560320"/>
            <a:ext cx="132588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320040" y="2560320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Vol RP</a:t>
            </a:r>
          </a:p>
        </p:txBody>
      </p:sp>
      <p:sp>
        <p:nvSpPr>
          <p:cNvPr id="40" name="Rect 40"/>
          <p:cNvSpPr/>
          <p:nvPr/>
        </p:nvSpPr>
        <p:spPr>
          <a:xfrm>
            <a:off x="1645919" y="2560320"/>
            <a:ext cx="77724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1645919" y="2560320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4.59%</a:t>
            </a:r>
          </a:p>
        </p:txBody>
      </p:sp>
      <p:sp>
        <p:nvSpPr>
          <p:cNvPr id="42" name="Rect 42"/>
          <p:cNvSpPr/>
          <p:nvPr/>
        </p:nvSpPr>
        <p:spPr>
          <a:xfrm>
            <a:off x="2423160" y="2560320"/>
            <a:ext cx="73152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2423160" y="2560320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3.97%</a:t>
            </a:r>
          </a:p>
        </p:txBody>
      </p:sp>
      <p:sp>
        <p:nvSpPr>
          <p:cNvPr id="44" name="Rect 44"/>
          <p:cNvSpPr/>
          <p:nvPr/>
        </p:nvSpPr>
        <p:spPr>
          <a:xfrm>
            <a:off x="3154680" y="2560320"/>
            <a:ext cx="68580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3154680" y="2560320"/>
            <a:ext cx="6858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0.909</a:t>
            </a:r>
          </a:p>
        </p:txBody>
      </p:sp>
      <p:sp>
        <p:nvSpPr>
          <p:cNvPr id="46" name="Rect 46"/>
          <p:cNvSpPr/>
          <p:nvPr/>
        </p:nvSpPr>
        <p:spPr>
          <a:xfrm>
            <a:off x="3840480" y="2560320"/>
            <a:ext cx="77724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3840480" y="2560320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-7.38%</a:t>
            </a:r>
          </a:p>
        </p:txBody>
      </p:sp>
      <p:sp>
        <p:nvSpPr>
          <p:cNvPr id="48" name="Rect 48"/>
          <p:cNvSpPr/>
          <p:nvPr/>
        </p:nvSpPr>
        <p:spPr>
          <a:xfrm>
            <a:off x="4617720" y="2560320"/>
            <a:ext cx="73152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4617720" y="2560320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6.13%</a:t>
            </a:r>
          </a:p>
        </p:txBody>
      </p:sp>
      <p:sp>
        <p:nvSpPr>
          <p:cNvPr id="50" name="Rect 50"/>
          <p:cNvSpPr/>
          <p:nvPr/>
        </p:nvSpPr>
        <p:spPr>
          <a:xfrm>
            <a:off x="5349240" y="2560320"/>
            <a:ext cx="77724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1"/>
          <p:cNvSpPr txBox="1"/>
          <p:nvPr/>
        </p:nvSpPr>
        <p:spPr>
          <a:xfrm>
            <a:off x="5349240" y="2560320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22.6%</a:t>
            </a:r>
          </a:p>
        </p:txBody>
      </p:sp>
      <p:sp>
        <p:nvSpPr>
          <p:cNvPr id="52" name="Rect 52"/>
          <p:cNvSpPr/>
          <p:nvPr/>
        </p:nvSpPr>
        <p:spPr>
          <a:xfrm>
            <a:off x="320040" y="2843784"/>
            <a:ext cx="13258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320040" y="2843784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Covar RP</a:t>
            </a:r>
          </a:p>
        </p:txBody>
      </p:sp>
      <p:sp>
        <p:nvSpPr>
          <p:cNvPr id="54" name="Rect 54"/>
          <p:cNvSpPr/>
          <p:nvPr/>
        </p:nvSpPr>
        <p:spPr>
          <a:xfrm>
            <a:off x="1645919" y="2843784"/>
            <a:ext cx="77724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 55"/>
          <p:cNvSpPr txBox="1"/>
          <p:nvPr/>
        </p:nvSpPr>
        <p:spPr>
          <a:xfrm>
            <a:off x="1645919" y="2843784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4.32%</a:t>
            </a:r>
          </a:p>
        </p:txBody>
      </p:sp>
      <p:sp>
        <p:nvSpPr>
          <p:cNvPr id="56" name="Rect 56"/>
          <p:cNvSpPr/>
          <p:nvPr/>
        </p:nvSpPr>
        <p:spPr>
          <a:xfrm>
            <a:off x="2423160" y="2843784"/>
            <a:ext cx="73152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2423160" y="2843784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3.86%</a:t>
            </a:r>
          </a:p>
        </p:txBody>
      </p:sp>
      <p:sp>
        <p:nvSpPr>
          <p:cNvPr id="58" name="Rect 58"/>
          <p:cNvSpPr/>
          <p:nvPr/>
        </p:nvSpPr>
        <p:spPr>
          <a:xfrm>
            <a:off x="3154680" y="2843784"/>
            <a:ext cx="68580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3154680" y="2843784"/>
            <a:ext cx="6858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0.864</a:t>
            </a:r>
          </a:p>
        </p:txBody>
      </p:sp>
      <p:sp>
        <p:nvSpPr>
          <p:cNvPr id="60" name="Rect 60"/>
          <p:cNvSpPr/>
          <p:nvPr/>
        </p:nvSpPr>
        <p:spPr>
          <a:xfrm>
            <a:off x="3840480" y="2843784"/>
            <a:ext cx="77724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3840480" y="2843784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-8.06%</a:t>
            </a:r>
          </a:p>
        </p:txBody>
      </p:sp>
      <p:sp>
        <p:nvSpPr>
          <p:cNvPr id="62" name="Rect 62"/>
          <p:cNvSpPr/>
          <p:nvPr/>
        </p:nvSpPr>
        <p:spPr>
          <a:xfrm>
            <a:off x="4617720" y="2843784"/>
            <a:ext cx="73152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4617720" y="2843784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6.31%</a:t>
            </a:r>
          </a:p>
        </p:txBody>
      </p:sp>
      <p:sp>
        <p:nvSpPr>
          <p:cNvPr id="64" name="Rect 64"/>
          <p:cNvSpPr/>
          <p:nvPr/>
        </p:nvSpPr>
        <p:spPr>
          <a:xfrm>
            <a:off x="5349240" y="2843784"/>
            <a:ext cx="77724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5349240" y="2843784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20.0%</a:t>
            </a:r>
          </a:p>
        </p:txBody>
      </p:sp>
      <p:sp>
        <p:nvSpPr>
          <p:cNvPr id="66" name="Rect 66"/>
          <p:cNvSpPr/>
          <p:nvPr/>
        </p:nvSpPr>
        <p:spPr>
          <a:xfrm>
            <a:off x="320040" y="3127248"/>
            <a:ext cx="132588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320040" y="3127248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MDP</a:t>
            </a:r>
          </a:p>
        </p:txBody>
      </p:sp>
      <p:sp>
        <p:nvSpPr>
          <p:cNvPr id="68" name="Rect 68"/>
          <p:cNvSpPr/>
          <p:nvPr/>
        </p:nvSpPr>
        <p:spPr>
          <a:xfrm>
            <a:off x="1645919" y="3127248"/>
            <a:ext cx="77724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9"/>
          <p:cNvSpPr txBox="1"/>
          <p:nvPr/>
        </p:nvSpPr>
        <p:spPr>
          <a:xfrm>
            <a:off x="1645919" y="3127248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3.56%</a:t>
            </a:r>
          </a:p>
        </p:txBody>
      </p:sp>
      <p:sp>
        <p:nvSpPr>
          <p:cNvPr id="70" name="Rect 70"/>
          <p:cNvSpPr/>
          <p:nvPr/>
        </p:nvSpPr>
        <p:spPr>
          <a:xfrm>
            <a:off x="2423160" y="3127248"/>
            <a:ext cx="73152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2423160" y="3127248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4.46%</a:t>
            </a:r>
          </a:p>
        </p:txBody>
      </p:sp>
      <p:sp>
        <p:nvSpPr>
          <p:cNvPr id="72" name="Rect 72"/>
          <p:cNvSpPr/>
          <p:nvPr/>
        </p:nvSpPr>
        <p:spPr>
          <a:xfrm>
            <a:off x="3154680" y="3127248"/>
            <a:ext cx="68580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 73"/>
          <p:cNvSpPr txBox="1"/>
          <p:nvPr/>
        </p:nvSpPr>
        <p:spPr>
          <a:xfrm>
            <a:off x="3154680" y="3127248"/>
            <a:ext cx="6858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0.576</a:t>
            </a:r>
          </a:p>
        </p:txBody>
      </p:sp>
      <p:sp>
        <p:nvSpPr>
          <p:cNvPr id="74" name="Rect 74"/>
          <p:cNvSpPr/>
          <p:nvPr/>
        </p:nvSpPr>
        <p:spPr>
          <a:xfrm>
            <a:off x="3840480" y="3127248"/>
            <a:ext cx="77724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 75"/>
          <p:cNvSpPr txBox="1"/>
          <p:nvPr/>
        </p:nvSpPr>
        <p:spPr>
          <a:xfrm>
            <a:off x="3840480" y="3127248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-12.39%</a:t>
            </a:r>
          </a:p>
        </p:txBody>
      </p:sp>
      <p:sp>
        <p:nvSpPr>
          <p:cNvPr id="76" name="Rect 76"/>
          <p:cNvSpPr/>
          <p:nvPr/>
        </p:nvSpPr>
        <p:spPr>
          <a:xfrm>
            <a:off x="4617720" y="3127248"/>
            <a:ext cx="73152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 77"/>
          <p:cNvSpPr txBox="1"/>
          <p:nvPr/>
        </p:nvSpPr>
        <p:spPr>
          <a:xfrm>
            <a:off x="4617720" y="3127248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6.61%</a:t>
            </a:r>
          </a:p>
        </p:txBody>
      </p:sp>
      <p:sp>
        <p:nvSpPr>
          <p:cNvPr id="78" name="Rect 78"/>
          <p:cNvSpPr/>
          <p:nvPr/>
        </p:nvSpPr>
        <p:spPr>
          <a:xfrm>
            <a:off x="5349240" y="3127248"/>
            <a:ext cx="77724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 79"/>
          <p:cNvSpPr txBox="1"/>
          <p:nvPr/>
        </p:nvSpPr>
        <p:spPr>
          <a:xfrm>
            <a:off x="5349240" y="3127248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39.6%</a:t>
            </a:r>
          </a:p>
        </p:txBody>
      </p:sp>
      <p:sp>
        <p:nvSpPr>
          <p:cNvPr id="80" name="Rect 80"/>
          <p:cNvSpPr/>
          <p:nvPr/>
        </p:nvSpPr>
        <p:spPr>
          <a:xfrm>
            <a:off x="320040" y="3410712"/>
            <a:ext cx="1325880" cy="283464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320040" y="3410712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HRP</a:t>
            </a:r>
          </a:p>
        </p:txBody>
      </p:sp>
      <p:sp>
        <p:nvSpPr>
          <p:cNvPr id="82" name="Rect 82"/>
          <p:cNvSpPr/>
          <p:nvPr/>
        </p:nvSpPr>
        <p:spPr>
          <a:xfrm>
            <a:off x="1645919" y="3410712"/>
            <a:ext cx="777240" cy="283464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3"/>
          <p:cNvSpPr txBox="1"/>
          <p:nvPr/>
        </p:nvSpPr>
        <p:spPr>
          <a:xfrm>
            <a:off x="1645919" y="3410712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4.55%</a:t>
            </a:r>
          </a:p>
        </p:txBody>
      </p:sp>
      <p:sp>
        <p:nvSpPr>
          <p:cNvPr id="84" name="Rect 84"/>
          <p:cNvSpPr/>
          <p:nvPr/>
        </p:nvSpPr>
        <p:spPr>
          <a:xfrm>
            <a:off x="2423160" y="3410712"/>
            <a:ext cx="731520" cy="283464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 85"/>
          <p:cNvSpPr txBox="1"/>
          <p:nvPr/>
        </p:nvSpPr>
        <p:spPr>
          <a:xfrm>
            <a:off x="2423160" y="3410712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2.87%</a:t>
            </a:r>
          </a:p>
        </p:txBody>
      </p:sp>
      <p:sp>
        <p:nvSpPr>
          <p:cNvPr id="86" name="Rect 86"/>
          <p:cNvSpPr/>
          <p:nvPr/>
        </p:nvSpPr>
        <p:spPr>
          <a:xfrm>
            <a:off x="3154680" y="3410712"/>
            <a:ext cx="685800" cy="283464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 87"/>
          <p:cNvSpPr txBox="1"/>
          <p:nvPr/>
        </p:nvSpPr>
        <p:spPr>
          <a:xfrm>
            <a:off x="3154680" y="3410712"/>
            <a:ext cx="68580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1.239</a:t>
            </a:r>
          </a:p>
        </p:txBody>
      </p:sp>
      <p:sp>
        <p:nvSpPr>
          <p:cNvPr id="88" name="Rect 88"/>
          <p:cNvSpPr/>
          <p:nvPr/>
        </p:nvSpPr>
        <p:spPr>
          <a:xfrm>
            <a:off x="3840480" y="3410712"/>
            <a:ext cx="777240" cy="283464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89"/>
          <p:cNvSpPr txBox="1"/>
          <p:nvPr/>
        </p:nvSpPr>
        <p:spPr>
          <a:xfrm>
            <a:off x="3840480" y="3410712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-3.79%</a:t>
            </a:r>
          </a:p>
        </p:txBody>
      </p:sp>
      <p:sp>
        <p:nvSpPr>
          <p:cNvPr id="90" name="Rect 90"/>
          <p:cNvSpPr/>
          <p:nvPr/>
        </p:nvSpPr>
        <p:spPr>
          <a:xfrm>
            <a:off x="4617720" y="3410712"/>
            <a:ext cx="731520" cy="283464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 91"/>
          <p:cNvSpPr txBox="1"/>
          <p:nvPr/>
        </p:nvSpPr>
        <p:spPr>
          <a:xfrm>
            <a:off x="4617720" y="3410712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8.21%</a:t>
            </a:r>
          </a:p>
        </p:txBody>
      </p:sp>
      <p:sp>
        <p:nvSpPr>
          <p:cNvPr id="92" name="Rect 92"/>
          <p:cNvSpPr/>
          <p:nvPr/>
        </p:nvSpPr>
        <p:spPr>
          <a:xfrm>
            <a:off x="5349240" y="3410712"/>
            <a:ext cx="777240" cy="283464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Box 93"/>
          <p:cNvSpPr txBox="1"/>
          <p:nvPr/>
        </p:nvSpPr>
        <p:spPr>
          <a:xfrm>
            <a:off x="5349240" y="3410712"/>
            <a:ext cx="77724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48.4%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543800" y="1664208"/>
            <a:ext cx="224028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HRP END-OF-SAMPLE WEIGHTS</a:t>
            </a:r>
          </a:p>
        </p:txBody>
      </p:sp>
      <p:sp>
        <p:nvSpPr>
          <p:cNvPr id="95" name="Rect 95"/>
          <p:cNvSpPr/>
          <p:nvPr/>
        </p:nvSpPr>
        <p:spPr>
          <a:xfrm>
            <a:off x="7543800" y="1993392"/>
            <a:ext cx="132588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 96"/>
          <p:cNvSpPr txBox="1"/>
          <p:nvPr/>
        </p:nvSpPr>
        <p:spPr>
          <a:xfrm>
            <a:off x="7543800" y="1993392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Asset</a:t>
            </a:r>
          </a:p>
        </p:txBody>
      </p:sp>
      <p:sp>
        <p:nvSpPr>
          <p:cNvPr id="97" name="Rect 97"/>
          <p:cNvSpPr/>
          <p:nvPr/>
        </p:nvSpPr>
        <p:spPr>
          <a:xfrm>
            <a:off x="8869680" y="1993392"/>
            <a:ext cx="868680" cy="283464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Box 98"/>
          <p:cNvSpPr txBox="1"/>
          <p:nvPr/>
        </p:nvSpPr>
        <p:spPr>
          <a:xfrm>
            <a:off x="8869680" y="1993392"/>
            <a:ext cx="8686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Weight</a:t>
            </a:r>
          </a:p>
        </p:txBody>
      </p:sp>
      <p:sp>
        <p:nvSpPr>
          <p:cNvPr id="99" name="Rect 99"/>
          <p:cNvSpPr/>
          <p:nvPr/>
        </p:nvSpPr>
        <p:spPr>
          <a:xfrm>
            <a:off x="7543800" y="2276856"/>
            <a:ext cx="13258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 100"/>
          <p:cNvSpPr txBox="1"/>
          <p:nvPr/>
        </p:nvSpPr>
        <p:spPr>
          <a:xfrm>
            <a:off x="7543800" y="2276856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1</a:t>
            </a:r>
          </a:p>
        </p:txBody>
      </p:sp>
      <p:sp>
        <p:nvSpPr>
          <p:cNvPr id="101" name="Rect 101"/>
          <p:cNvSpPr/>
          <p:nvPr/>
        </p:nvSpPr>
        <p:spPr>
          <a:xfrm>
            <a:off x="8869680" y="2276856"/>
            <a:ext cx="8686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2"/>
          <p:cNvSpPr txBox="1"/>
          <p:nvPr/>
        </p:nvSpPr>
        <p:spPr>
          <a:xfrm>
            <a:off x="8869680" y="2276856"/>
            <a:ext cx="8686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64.8%</a:t>
            </a:r>
          </a:p>
        </p:txBody>
      </p:sp>
      <p:sp>
        <p:nvSpPr>
          <p:cNvPr id="103" name="Rect 103"/>
          <p:cNvSpPr/>
          <p:nvPr/>
        </p:nvSpPr>
        <p:spPr>
          <a:xfrm>
            <a:off x="7543800" y="2560320"/>
            <a:ext cx="132588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7543800" y="2560320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2</a:t>
            </a:r>
          </a:p>
        </p:txBody>
      </p:sp>
      <p:sp>
        <p:nvSpPr>
          <p:cNvPr id="105" name="Rect 105"/>
          <p:cNvSpPr/>
          <p:nvPr/>
        </p:nvSpPr>
        <p:spPr>
          <a:xfrm>
            <a:off x="8869680" y="2560320"/>
            <a:ext cx="86868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 106"/>
          <p:cNvSpPr txBox="1"/>
          <p:nvPr/>
        </p:nvSpPr>
        <p:spPr>
          <a:xfrm>
            <a:off x="8869680" y="2560320"/>
            <a:ext cx="8686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1.6%</a:t>
            </a:r>
          </a:p>
        </p:txBody>
      </p:sp>
      <p:sp>
        <p:nvSpPr>
          <p:cNvPr id="107" name="Rect 107"/>
          <p:cNvSpPr/>
          <p:nvPr/>
        </p:nvSpPr>
        <p:spPr>
          <a:xfrm>
            <a:off x="7543800" y="2843784"/>
            <a:ext cx="13258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8"/>
          <p:cNvSpPr txBox="1"/>
          <p:nvPr/>
        </p:nvSpPr>
        <p:spPr>
          <a:xfrm>
            <a:off x="7543800" y="2843784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Asset3</a:t>
            </a:r>
          </a:p>
        </p:txBody>
      </p:sp>
      <p:sp>
        <p:nvSpPr>
          <p:cNvPr id="109" name="Rect 109"/>
          <p:cNvSpPr/>
          <p:nvPr/>
        </p:nvSpPr>
        <p:spPr>
          <a:xfrm>
            <a:off x="8869680" y="2843784"/>
            <a:ext cx="8686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Box 110"/>
          <p:cNvSpPr txBox="1"/>
          <p:nvPr/>
        </p:nvSpPr>
        <p:spPr>
          <a:xfrm>
            <a:off x="8869680" y="2843784"/>
            <a:ext cx="8686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0.7%</a:t>
            </a:r>
          </a:p>
        </p:txBody>
      </p:sp>
      <p:sp>
        <p:nvSpPr>
          <p:cNvPr id="111" name="Rect 111"/>
          <p:cNvSpPr/>
          <p:nvPr/>
        </p:nvSpPr>
        <p:spPr>
          <a:xfrm>
            <a:off x="7543800" y="3127248"/>
            <a:ext cx="132588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 112"/>
          <p:cNvSpPr txBox="1"/>
          <p:nvPr/>
        </p:nvSpPr>
        <p:spPr>
          <a:xfrm>
            <a:off x="7543800" y="3127248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4</a:t>
            </a:r>
          </a:p>
        </p:txBody>
      </p:sp>
      <p:sp>
        <p:nvSpPr>
          <p:cNvPr id="113" name="Rect 113"/>
          <p:cNvSpPr/>
          <p:nvPr/>
        </p:nvSpPr>
        <p:spPr>
          <a:xfrm>
            <a:off x="8869680" y="3127248"/>
            <a:ext cx="868680" cy="283464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4"/>
          <p:cNvSpPr txBox="1"/>
          <p:nvPr/>
        </p:nvSpPr>
        <p:spPr>
          <a:xfrm>
            <a:off x="8869680" y="3127248"/>
            <a:ext cx="8686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25.5%</a:t>
            </a:r>
          </a:p>
        </p:txBody>
      </p:sp>
      <p:sp>
        <p:nvSpPr>
          <p:cNvPr id="115" name="Rect 115"/>
          <p:cNvSpPr/>
          <p:nvPr/>
        </p:nvSpPr>
        <p:spPr>
          <a:xfrm>
            <a:off x="7543800" y="3410712"/>
            <a:ext cx="13258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Box 116"/>
          <p:cNvSpPr txBox="1"/>
          <p:nvPr/>
        </p:nvSpPr>
        <p:spPr>
          <a:xfrm>
            <a:off x="7543800" y="3410712"/>
            <a:ext cx="13258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Asset 5</a:t>
            </a:r>
          </a:p>
        </p:txBody>
      </p:sp>
      <p:sp>
        <p:nvSpPr>
          <p:cNvPr id="117" name="Rect 117"/>
          <p:cNvSpPr/>
          <p:nvPr/>
        </p:nvSpPr>
        <p:spPr>
          <a:xfrm>
            <a:off x="8869680" y="3410712"/>
            <a:ext cx="868680" cy="283464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Box 118"/>
          <p:cNvSpPr txBox="1"/>
          <p:nvPr/>
        </p:nvSpPr>
        <p:spPr>
          <a:xfrm>
            <a:off x="8869680" y="3410712"/>
            <a:ext cx="868680" cy="2834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8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7.4%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94360" y="4343400"/>
            <a:ext cx="5440680" cy="960120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Defensible takeaway: HRP has the best Sharpe and smallest historical drawdown among RP methods, but its return is below the 6.02% client hurdle. Risk Parity is therefore a strong long-only risk-control benchmark, not a complete solution to the client's wealth target.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446520" y="4343400"/>
            <a:ext cx="4937760" cy="960120"/>
          </a:xfrm>
          <a:prstGeom prst="rect">
            <a:avLst/>
          </a:prstGeom>
          <a:solidFill>
            <a:srgbClr val="F7F7FA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0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Why this matters for Page 4: the best long-only risk budgeting result supports the same conclusion as MVO. Drawdown can be controlled, but meeting both drawdown and return requires relaxing something beyond a simple long-only allocation.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6 — Historical Simulation Comparison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Historical wealth paths and drawdown outcomes for the main portfolios considered.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" y="1115568"/>
            <a:ext cx="11521440" cy="420624"/>
          </a:xfrm>
          <a:prstGeom prst="rect">
            <a:avLst/>
          </a:prstGeom>
          <a:solidFill>
            <a:srgbClr val="EBF8FF"/>
          </a:solidFill>
          <a:ln>
            <a:solidFill>
              <a:srgbClr val="A0AEC0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Method: apply each portfolio's target weights to the same 2004-2013 monthly asset returns with monthly rebalancing.</a:t>
            </a:r>
          </a:p>
        </p:txBody>
      </p:sp>
      <p:pic>
        <p:nvPicPr>
          <p:cNvPr id="9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320040" y="1572768"/>
            <a:ext cx="11475720" cy="4709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3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040" y="7315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Page 7 — Final Recommendation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" y="566928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i="1">
                <a:solidFill>
                  <a:srgbClr val="A0AEC0"/>
                </a:solidFill>
                <a:latin typeface="Georgia"/>
                <a:ea typeface="Georgia"/>
                <a:cs typeface="Georgia"/>
              </a:rPr>
              <a:t>Use the client-constrained MVO as the recommendation if implementation allows; keep the long-only alternatives as fallbacks.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0040" y="652881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QFGB 8948 – Team Portfolio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9960" y="65288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t"/>
          <a:lstStyle/>
          <a:p>
            <a:pPr algn="r"/>
            <a:r>
              <a:rPr lang="en-US" sz="800">
                <a:solidFill>
                  <a:srgbClr val="718096"/>
                </a:solidFill>
                <a:latin typeface="Georgia"/>
                <a:ea typeface="Georgia"/>
                <a:cs typeface="Georgia"/>
              </a:rPr>
              <a:t>Page 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" y="1188720"/>
            <a:ext cx="6903720" cy="292608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DECISION TABLE</a:t>
            </a:r>
          </a:p>
        </p:txBody>
      </p:sp>
      <p:sp>
        <p:nvSpPr>
          <p:cNvPr id="9" name="Rect 9"/>
          <p:cNvSpPr/>
          <p:nvPr/>
        </p:nvSpPr>
        <p:spPr>
          <a:xfrm>
            <a:off x="320040" y="1536192"/>
            <a:ext cx="1325880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20040" y="153619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11" name="Rect 11"/>
          <p:cNvSpPr/>
          <p:nvPr/>
        </p:nvSpPr>
        <p:spPr>
          <a:xfrm>
            <a:off x="1645919" y="1536192"/>
            <a:ext cx="1874519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45919" y="1536192"/>
            <a:ext cx="1874519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Weights</a:t>
            </a:r>
          </a:p>
        </p:txBody>
      </p:sp>
      <p:sp>
        <p:nvSpPr>
          <p:cNvPr id="13" name="Rect 13"/>
          <p:cNvSpPr/>
          <p:nvPr/>
        </p:nvSpPr>
        <p:spPr>
          <a:xfrm>
            <a:off x="3520439" y="1536192"/>
            <a:ext cx="74980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520439" y="153619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Ret</a:t>
            </a:r>
          </a:p>
        </p:txBody>
      </p:sp>
      <p:sp>
        <p:nvSpPr>
          <p:cNvPr id="15" name="Rect 15"/>
          <p:cNvSpPr/>
          <p:nvPr/>
        </p:nvSpPr>
        <p:spPr>
          <a:xfrm>
            <a:off x="4270248" y="1536192"/>
            <a:ext cx="74980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270248" y="153619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Vol</a:t>
            </a:r>
          </a:p>
        </p:txBody>
      </p:sp>
      <p:sp>
        <p:nvSpPr>
          <p:cNvPr id="17" name="Rect 17"/>
          <p:cNvSpPr/>
          <p:nvPr/>
        </p:nvSpPr>
        <p:spPr>
          <a:xfrm>
            <a:off x="5020056" y="1536192"/>
            <a:ext cx="749808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020056" y="153619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Worst DD</a:t>
            </a:r>
          </a:p>
        </p:txBody>
      </p:sp>
      <p:sp>
        <p:nvSpPr>
          <p:cNvPr id="19" name="Rect 19"/>
          <p:cNvSpPr/>
          <p:nvPr/>
        </p:nvSpPr>
        <p:spPr>
          <a:xfrm>
            <a:off x="5769864" y="1536192"/>
            <a:ext cx="1325880" cy="301752"/>
          </a:xfrm>
          <a:prstGeom prst="rect">
            <a:avLst/>
          </a:prstGeom>
          <a:solidFill>
            <a:srgbClr val="1A1A2E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5769864" y="153619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Conclusion</a:t>
            </a:r>
          </a:p>
        </p:txBody>
      </p:sp>
      <p:sp>
        <p:nvSpPr>
          <p:cNvPr id="21" name="Rect 21"/>
          <p:cNvSpPr/>
          <p:nvPr/>
        </p:nvSpPr>
        <p:spPr>
          <a:xfrm>
            <a:off x="320040" y="1837943"/>
            <a:ext cx="13258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20040" y="1837943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Current Eq-Wt</a:t>
            </a:r>
          </a:p>
        </p:txBody>
      </p:sp>
      <p:sp>
        <p:nvSpPr>
          <p:cNvPr id="23" name="Rect 23"/>
          <p:cNvSpPr/>
          <p:nvPr/>
        </p:nvSpPr>
        <p:spPr>
          <a:xfrm>
            <a:off x="1645919" y="1837943"/>
            <a:ext cx="1874519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645919" y="1837943"/>
            <a:ext cx="1874519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20/20/20/20/20</a:t>
            </a:r>
          </a:p>
        </p:txBody>
      </p:sp>
      <p:sp>
        <p:nvSpPr>
          <p:cNvPr id="25" name="Rect 25"/>
          <p:cNvSpPr/>
          <p:nvPr/>
        </p:nvSpPr>
        <p:spPr>
          <a:xfrm>
            <a:off x="3520439" y="1837943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3520439" y="1837943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6.40%</a:t>
            </a:r>
          </a:p>
        </p:txBody>
      </p:sp>
      <p:sp>
        <p:nvSpPr>
          <p:cNvPr id="27" name="Rect 27"/>
          <p:cNvSpPr/>
          <p:nvPr/>
        </p:nvSpPr>
        <p:spPr>
          <a:xfrm>
            <a:off x="4270248" y="1837943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4270248" y="1837943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8.40%</a:t>
            </a:r>
          </a:p>
        </p:txBody>
      </p:sp>
      <p:sp>
        <p:nvSpPr>
          <p:cNvPr id="29" name="Rect 29"/>
          <p:cNvSpPr/>
          <p:nvPr/>
        </p:nvSpPr>
        <p:spPr>
          <a:xfrm>
            <a:off x="5020056" y="1837943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5020056" y="1837943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-37.0%</a:t>
            </a:r>
          </a:p>
        </p:txBody>
      </p:sp>
      <p:sp>
        <p:nvSpPr>
          <p:cNvPr id="31" name="Rect 31"/>
          <p:cNvSpPr/>
          <p:nvPr/>
        </p:nvSpPr>
        <p:spPr>
          <a:xfrm>
            <a:off x="5769864" y="1837943"/>
            <a:ext cx="13258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5769864" y="1837943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Fails drawdown</a:t>
            </a:r>
          </a:p>
        </p:txBody>
      </p:sp>
      <p:sp>
        <p:nvSpPr>
          <p:cNvPr id="33" name="Rect 33"/>
          <p:cNvSpPr/>
          <p:nvPr/>
        </p:nvSpPr>
        <p:spPr>
          <a:xfrm>
            <a:off x="320040" y="2139696"/>
            <a:ext cx="1325880" cy="30175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320040" y="2139696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Client MVO</a:t>
            </a:r>
          </a:p>
        </p:txBody>
      </p:sp>
      <p:sp>
        <p:nvSpPr>
          <p:cNvPr id="35" name="Rect 35"/>
          <p:cNvSpPr/>
          <p:nvPr/>
        </p:nvSpPr>
        <p:spPr>
          <a:xfrm>
            <a:off x="1645919" y="2139696"/>
            <a:ext cx="1874519" cy="30175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645919" y="2139696"/>
            <a:ext cx="1874519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120/22.7/9.2/-52.2/0.2</a:t>
            </a:r>
          </a:p>
        </p:txBody>
      </p:sp>
      <p:sp>
        <p:nvSpPr>
          <p:cNvPr id="37" name="Rect 37"/>
          <p:cNvSpPr/>
          <p:nvPr/>
        </p:nvSpPr>
        <p:spPr>
          <a:xfrm>
            <a:off x="3520439" y="2139696"/>
            <a:ext cx="749808" cy="30175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3520439" y="2139696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6.02%</a:t>
            </a:r>
          </a:p>
        </p:txBody>
      </p:sp>
      <p:sp>
        <p:nvSpPr>
          <p:cNvPr id="39" name="Rect 39"/>
          <p:cNvSpPr/>
          <p:nvPr/>
        </p:nvSpPr>
        <p:spPr>
          <a:xfrm>
            <a:off x="4270248" y="2139696"/>
            <a:ext cx="749808" cy="30175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4270248" y="2139696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5.88%</a:t>
            </a:r>
          </a:p>
        </p:txBody>
      </p:sp>
      <p:sp>
        <p:nvSpPr>
          <p:cNvPr id="41" name="Rect 41"/>
          <p:cNvSpPr/>
          <p:nvPr/>
        </p:nvSpPr>
        <p:spPr>
          <a:xfrm>
            <a:off x="5020056" y="2139696"/>
            <a:ext cx="749808" cy="30175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5020056" y="2139696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-15.0%</a:t>
            </a:r>
          </a:p>
        </p:txBody>
      </p:sp>
      <p:sp>
        <p:nvSpPr>
          <p:cNvPr id="43" name="Rect 43"/>
          <p:cNvSpPr/>
          <p:nvPr/>
        </p:nvSpPr>
        <p:spPr>
          <a:xfrm>
            <a:off x="5769864" y="2139696"/>
            <a:ext cx="1325880" cy="301752"/>
          </a:xfrm>
          <a:prstGeom prst="rect">
            <a:avLst/>
          </a:prstGeom>
          <a:solidFill>
            <a:srgbClr val="FFF2CC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5769864" y="2139696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Meets client goals</a:t>
            </a:r>
          </a:p>
        </p:txBody>
      </p:sp>
      <p:sp>
        <p:nvSpPr>
          <p:cNvPr id="45" name="Rect 45"/>
          <p:cNvSpPr/>
          <p:nvPr/>
        </p:nvSpPr>
        <p:spPr>
          <a:xfrm>
            <a:off x="320040" y="2441448"/>
            <a:ext cx="13258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320040" y="2441448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Factor MVO</a:t>
            </a:r>
          </a:p>
        </p:txBody>
      </p:sp>
      <p:sp>
        <p:nvSpPr>
          <p:cNvPr id="47" name="Rect 47"/>
          <p:cNvSpPr/>
          <p:nvPr/>
        </p:nvSpPr>
        <p:spPr>
          <a:xfrm>
            <a:off x="1645919" y="2441448"/>
            <a:ext cx="1874519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645919" y="2441448"/>
            <a:ext cx="1874519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42.1/15.0/12.6/0/30.3</a:t>
            </a:r>
          </a:p>
        </p:txBody>
      </p:sp>
      <p:sp>
        <p:nvSpPr>
          <p:cNvPr id="49" name="Rect 49"/>
          <p:cNvSpPr/>
          <p:nvPr/>
        </p:nvSpPr>
        <p:spPr>
          <a:xfrm>
            <a:off x="3520439" y="2441448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3520439" y="244144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6.00%</a:t>
            </a:r>
          </a:p>
        </p:txBody>
      </p:sp>
      <p:sp>
        <p:nvSpPr>
          <p:cNvPr id="51" name="Rect 51"/>
          <p:cNvSpPr/>
          <p:nvPr/>
        </p:nvSpPr>
        <p:spPr>
          <a:xfrm>
            <a:off x="4270248" y="2441448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4270248" y="244144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6.21%</a:t>
            </a:r>
          </a:p>
        </p:txBody>
      </p:sp>
      <p:sp>
        <p:nvSpPr>
          <p:cNvPr id="53" name="Rect 53"/>
          <p:cNvSpPr/>
          <p:nvPr/>
        </p:nvSpPr>
        <p:spPr>
          <a:xfrm>
            <a:off x="5020056" y="2441448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5020056" y="244144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-22.8%</a:t>
            </a:r>
          </a:p>
        </p:txBody>
      </p:sp>
      <p:sp>
        <p:nvSpPr>
          <p:cNvPr id="55" name="Rect 55"/>
          <p:cNvSpPr/>
          <p:nvPr/>
        </p:nvSpPr>
        <p:spPr>
          <a:xfrm>
            <a:off x="5769864" y="2441448"/>
            <a:ext cx="13258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5769864" y="2441448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Shows factor caps</a:t>
            </a:r>
          </a:p>
        </p:txBody>
      </p:sp>
      <p:sp>
        <p:nvSpPr>
          <p:cNvPr id="57" name="Rect 57"/>
          <p:cNvSpPr/>
          <p:nvPr/>
        </p:nvSpPr>
        <p:spPr>
          <a:xfrm>
            <a:off x="320040" y="2743200"/>
            <a:ext cx="132588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 58"/>
          <p:cNvSpPr txBox="1"/>
          <p:nvPr/>
        </p:nvSpPr>
        <p:spPr>
          <a:xfrm>
            <a:off x="320040" y="2743200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Custom Long-Only</a:t>
            </a:r>
          </a:p>
        </p:txBody>
      </p:sp>
      <p:sp>
        <p:nvSpPr>
          <p:cNvPr id="59" name="Rect 59"/>
          <p:cNvSpPr/>
          <p:nvPr/>
        </p:nvSpPr>
        <p:spPr>
          <a:xfrm>
            <a:off x="1645919" y="2743200"/>
            <a:ext cx="1874519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1645919" y="2743200"/>
            <a:ext cx="1874519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40/19.5/8.7/0/31.8</a:t>
            </a:r>
          </a:p>
        </p:txBody>
      </p:sp>
      <p:sp>
        <p:nvSpPr>
          <p:cNvPr id="61" name="Rect 61"/>
          <p:cNvSpPr/>
          <p:nvPr/>
        </p:nvSpPr>
        <p:spPr>
          <a:xfrm>
            <a:off x="3520439" y="2743200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 62"/>
          <p:cNvSpPr txBox="1"/>
          <p:nvPr/>
        </p:nvSpPr>
        <p:spPr>
          <a:xfrm>
            <a:off x="3520439" y="2743200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6.00%</a:t>
            </a:r>
          </a:p>
        </p:txBody>
      </p:sp>
      <p:sp>
        <p:nvSpPr>
          <p:cNvPr id="63" name="Rect 63"/>
          <p:cNvSpPr/>
          <p:nvPr/>
        </p:nvSpPr>
        <p:spPr>
          <a:xfrm>
            <a:off x="4270248" y="2743200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4270248" y="2743200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6.16%</a:t>
            </a:r>
          </a:p>
        </p:txBody>
      </p:sp>
      <p:sp>
        <p:nvSpPr>
          <p:cNvPr id="65" name="Rect 65"/>
          <p:cNvSpPr/>
          <p:nvPr/>
        </p:nvSpPr>
        <p:spPr>
          <a:xfrm>
            <a:off x="5020056" y="2743200"/>
            <a:ext cx="749808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5020056" y="2743200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-21.8%</a:t>
            </a:r>
          </a:p>
        </p:txBody>
      </p:sp>
      <p:sp>
        <p:nvSpPr>
          <p:cNvPr id="67" name="Rect 67"/>
          <p:cNvSpPr/>
          <p:nvPr/>
        </p:nvSpPr>
        <p:spPr>
          <a:xfrm>
            <a:off x="5769864" y="2743200"/>
            <a:ext cx="1325880" cy="301752"/>
          </a:xfrm>
          <a:prstGeom prst="rect">
            <a:avLst/>
          </a:prstGeom>
          <a:solidFill>
            <a:srgbClr val="F7F7FA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 68"/>
          <p:cNvSpPr txBox="1"/>
          <p:nvPr/>
        </p:nvSpPr>
        <p:spPr>
          <a:xfrm>
            <a:off x="5769864" y="2743200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Return ok, DD fail</a:t>
            </a:r>
          </a:p>
        </p:txBody>
      </p:sp>
      <p:sp>
        <p:nvSpPr>
          <p:cNvPr id="69" name="Rect 69"/>
          <p:cNvSpPr/>
          <p:nvPr/>
        </p:nvSpPr>
        <p:spPr>
          <a:xfrm>
            <a:off x="320040" y="3044952"/>
            <a:ext cx="13258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 70"/>
          <p:cNvSpPr txBox="1"/>
          <p:nvPr/>
        </p:nvSpPr>
        <p:spPr>
          <a:xfrm>
            <a:off x="320040" y="304495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HRP</a:t>
            </a:r>
          </a:p>
        </p:txBody>
      </p:sp>
      <p:sp>
        <p:nvSpPr>
          <p:cNvPr id="71" name="Rect 71"/>
          <p:cNvSpPr/>
          <p:nvPr/>
        </p:nvSpPr>
        <p:spPr>
          <a:xfrm>
            <a:off x="1645919" y="3044952"/>
            <a:ext cx="1874519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 72"/>
          <p:cNvSpPr txBox="1"/>
          <p:nvPr/>
        </p:nvSpPr>
        <p:spPr>
          <a:xfrm>
            <a:off x="1645919" y="3044952"/>
            <a:ext cx="1874519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64.8/1.6/0.7/25.5/7.4</a:t>
            </a:r>
          </a:p>
        </p:txBody>
      </p:sp>
      <p:sp>
        <p:nvSpPr>
          <p:cNvPr id="73" name="Rect 73"/>
          <p:cNvSpPr/>
          <p:nvPr/>
        </p:nvSpPr>
        <p:spPr>
          <a:xfrm>
            <a:off x="3520439" y="3044952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 74"/>
          <p:cNvSpPr txBox="1"/>
          <p:nvPr/>
        </p:nvSpPr>
        <p:spPr>
          <a:xfrm>
            <a:off x="3520439" y="304495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4.64%</a:t>
            </a:r>
          </a:p>
        </p:txBody>
      </p:sp>
      <p:sp>
        <p:nvSpPr>
          <p:cNvPr id="75" name="Rect 75"/>
          <p:cNvSpPr/>
          <p:nvPr/>
        </p:nvSpPr>
        <p:spPr>
          <a:xfrm>
            <a:off x="4270248" y="3044952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4270248" y="304495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2.59%</a:t>
            </a:r>
          </a:p>
        </p:txBody>
      </p:sp>
      <p:sp>
        <p:nvSpPr>
          <p:cNvPr id="77" name="Rect 77"/>
          <p:cNvSpPr/>
          <p:nvPr/>
        </p:nvSpPr>
        <p:spPr>
          <a:xfrm>
            <a:off x="5020056" y="3044952"/>
            <a:ext cx="749808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 78"/>
          <p:cNvSpPr txBox="1"/>
          <p:nvPr/>
        </p:nvSpPr>
        <p:spPr>
          <a:xfrm>
            <a:off x="5020056" y="304495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-5.8%</a:t>
            </a:r>
          </a:p>
        </p:txBody>
      </p:sp>
      <p:sp>
        <p:nvSpPr>
          <p:cNvPr id="79" name="Rect 79"/>
          <p:cNvSpPr/>
          <p:nvPr/>
        </p:nvSpPr>
        <p:spPr>
          <a:xfrm>
            <a:off x="5769864" y="3044952"/>
            <a:ext cx="13258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5769864" y="3044952"/>
            <a:ext cx="1325880" cy="301752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/>
          <a:lstStyle/>
          <a:p>
            <a:pPr algn="ctr"/>
            <a:r>
              <a:rPr lang="en-US" sz="7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Risk-control fallback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40080" y="3931920"/>
            <a:ext cx="5257800" cy="1325880"/>
          </a:xfrm>
          <a:prstGeom prst="rect">
            <a:avLst/>
          </a:prstGeom>
          <a:solidFill>
            <a:srgbClr val="FFF2CC"/>
          </a:solidFill>
          <a:ln>
            <a:solidFill>
              <a:srgbClr val="E5D183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Recommendation: present Client MVO as the only tested allocation that meets both the exact five-year wealth target and the 15% historical drawdown limit. The tradeoff is implementation complexity: it requires shorting Asset 4 and about 2.04x gross exposure.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309360" y="3931920"/>
            <a:ext cx="5257800" cy="1325880"/>
          </a:xfrm>
          <a:prstGeom prst="rect">
            <a:avLst/>
          </a:prstGeom>
          <a:solidFill>
            <a:srgbClr val="F7F7FA"/>
          </a:solidFill>
          <a:ln>
            <a:solidFill>
              <a:srgbClr val="E1E1E1"/>
            </a:solidFill>
          </a:ln>
        </p:spPr>
        <p:txBody>
          <a:bodyPr wrap="square" lIns="45720" tIns="22860" rIns="45720" bIns="22860" anchor="t"/>
          <a:lstStyle/>
          <a:p>
            <a:pPr algn="l"/>
            <a:r>
              <a:rPr lang="en-US" sz="1100" dirty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If the client rejects long/short exposure: use the long-only MVO, but explicitly disclose that the full mandate is not satisfied. The factor-constrained and custom long-only portfolios satisfy the return target but miss drawdown; HRP satisfies drawdown but misses return.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40080" y="5532120"/>
            <a:ext cx="10927080" cy="502920"/>
          </a:xfrm>
          <a:prstGeom prst="rect">
            <a:avLst/>
          </a:prstGeom>
          <a:solidFill>
            <a:srgbClr val="EBF8FF"/>
          </a:solidFill>
          <a:ln>
            <a:solidFill>
              <a:srgbClr val="A0AEC0"/>
            </a:solidFill>
          </a:ln>
        </p:spPr>
        <p:txBody>
          <a:bodyPr wrap="square" lIns="45720" tIns="22860" rIns="45720" bIns="22860" anchor="ctr"/>
          <a:lstStyle/>
          <a:p>
            <a:pPr algn="l"/>
            <a:r>
              <a:rPr lang="en-US" sz="10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Bottom line: the analysis does not pretend every constraint can be met by a simple long-only portfolio. It separates the client-feasible recommendation from the factor-constrained and risk-parity diagnostics that explain why the relaxation is necessary.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2454</Words>
  <Application>Microsoft Macintosh PowerPoint</Application>
  <PresentationFormat>Custom</PresentationFormat>
  <Paragraphs>630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Thede, Cameron</cp:lastModifiedBy>
  <cp:revision>4</cp:revision>
  <dcterms:created xsi:type="dcterms:W3CDTF">2013-01-27T09:14:16Z</dcterms:created>
  <dcterms:modified xsi:type="dcterms:W3CDTF">2026-05-06T23:30:55Z</dcterms:modified>
  <cp:category/>
</cp:coreProperties>
</file>